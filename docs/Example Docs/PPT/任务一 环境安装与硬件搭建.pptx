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验证要点：拖动机械臂观察 RViz 中 URDF 模型与现实同步，证明安装尺寸与 CAD 一致。Wayland 下渲染异常时用 export QT_QPA_PLATFORM=xcb 强制 X11。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69480" y="1051560"/>
            <a:ext cx="4754880" cy="4754880"/>
          </a:xfrm>
          <a:prstGeom prst="ellipse">
            <a:avLst/>
          </a:prstGeom>
          <a:noFill/>
          <a:ln w="19050">
            <a:solidFill>
              <a:srgbClr val="1B3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18120" y="1600200"/>
            <a:ext cx="3657600" cy="3657600"/>
          </a:xfrm>
          <a:prstGeom prst="ellipse">
            <a:avLst/>
          </a:prstGeom>
          <a:noFill/>
          <a:ln w="19050">
            <a:solidFill>
              <a:srgbClr val="224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60" y="2148840"/>
            <a:ext cx="2560320" cy="2560320"/>
          </a:xfrm>
          <a:prstGeom prst="ellipse">
            <a:avLst/>
          </a:prstGeom>
          <a:noFill/>
          <a:ln w="19050">
            <a:solidFill>
              <a:srgbClr val="2A4C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53928" y="3355848"/>
            <a:ext cx="146304" cy="146304"/>
          </a:xfrm>
          <a:prstGeom prst="ellipse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26680" y="5029200"/>
            <a:ext cx="91440" cy="91440"/>
          </a:xfrm>
          <a:prstGeom prst="ellipse">
            <a:avLst/>
          </a:prstGeom>
          <a:solidFill>
            <a:srgbClr val="3A5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515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C14E"/>
                </a:solidFill>
                <a:latin typeface="微软雅黑"/>
                <a:ea typeface="微软雅黑"/>
              </a:rPr>
              <a:t>项目一 · Xtrainer 双臂机器人系统认知与环境搭建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00200"/>
            <a:ext cx="5486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任务一  环境安装与硬件搭建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310128"/>
            <a:ext cx="1005840" cy="50292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DD3EE"/>
                </a:solidFill>
                <a:latin typeface="微软雅黑"/>
                <a:ea typeface="微软雅黑"/>
              </a:rPr>
              <a:t>从硬件组装、软件开发环境到手眼标定——让整个平台「跑起来」的前提工程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4340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双臂 + 三目视觉 + 伺服夹爪的软硬件全栈构成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Ubuntu 24.04 + ROS2 Jazzy 与 conda 深度学习环境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easy_handeye2 三目相机手眼标定：eye_on_base / eye_in_hand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start.launch.py 一键启动与 URDF 一致性验证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722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8C8"/>
                </a:solidFill>
                <a:latin typeface="微软雅黑"/>
                <a:ea typeface="微软雅黑"/>
              </a:rPr>
              <a:t>深圳市越疆科技股份有限公司 · 实训教学课件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本讲内容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任务一 · 环境安装与硬件搭建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9280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平台总体架构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986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硬件组成 · ROS2 软件分层 · 数据流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89280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硬件安装要点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986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CAD 一致性 · USB 带宽 · TCP/IP 二次开发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89280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软件环境搭建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8986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ROS2 依赖 · conda 环境 · 深度学习模型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947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9592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相机手眼标定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017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AX=XB 原理 · 标定流程 · TF 数据流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37947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99592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572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验证与运行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50017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一键启动 · URDF 对照 · 常见问题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01 平台总体架构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Xtrainer 平台硬件组成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任务一 · 环境安装与硬件搭建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9436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2 × Dobot Nova2 机械臂</a:t>
            </a: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 — 6 自由度；TCP/IP 远程控制模式，由实验计算机统一调度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2 × 遥操作从手</a:t>
            </a: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 — 与机械臂一一对应的示教 / 遥操作输入设备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3 × RealSense D405 深度相机</a:t>
            </a: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 — camera_top 头顶固定、camera_left / camera_right 腕部随动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2 × 串口伺服夹爪</a:t>
            </a: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 — 左右臂末端各一套，通过 Udev 规则固定设备名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1 × 实验计算机</a:t>
            </a: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 — Ubuntu 24.04 + ROS2 Jazzy，NVIDIA GPU 承担深度学习推理</a:t>
            </a:r>
          </a:p>
        </p:txBody>
      </p:sp>
      <p:pic>
        <p:nvPicPr>
          <p:cNvPr id="9" name="Picture 8" descr="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92572"/>
            <a:ext cx="4983480" cy="2803207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10" name="Rectangle 9"/>
          <p:cNvSpPr/>
          <p:nvPr/>
        </p:nvSpPr>
        <p:spPr>
          <a:xfrm>
            <a:off x="6720840" y="5879592"/>
            <a:ext cx="4983480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5920740"/>
            <a:ext cx="48371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双臂机器人实验平台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01 平台总体架构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软件架构：从硬件到任务的分层设计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任务一 · 环境安装与硬件搭建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</a:rPr>
              <a:t>任务层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1481328"/>
            <a:ext cx="7863840" cy="9601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645920"/>
            <a:ext cx="7452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9A6B2F"/>
                </a:solidFill>
                <a:latin typeface="Consolas"/>
                <a:ea typeface="Consolas"/>
              </a:rPr>
              <a:t>xtrainer_task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：开瓶盖 / 插吸管 / 废料抓取等 Demo —— MoveItPy 规划执行 + GroundingDINO/SAM2 视觉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88336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2F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17520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</a:rPr>
              <a:t>桥接层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2688336"/>
            <a:ext cx="7863840" cy="9601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852928"/>
            <a:ext cx="7452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9A6B2F"/>
                </a:solidFill>
                <a:latin typeface="Consolas"/>
                <a:ea typeface="Consolas"/>
              </a:rPr>
              <a:t>xtrainer_bridge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：合并双臂 </a:t>
            </a:r>
            <a:r>
              <a:rPr sz="1200" b="0" i="0">
                <a:solidFill>
                  <a:srgbClr val="9A6B2F"/>
                </a:solidFill>
                <a:latin typeface="Consolas"/>
                <a:ea typeface="Consolas"/>
              </a:rPr>
              <a:t>/joint_states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；FollowJointTrajectory → ServoJ 逐点转发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4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24528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</a:rPr>
              <a:t>驱动层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3895344"/>
            <a:ext cx="7863840" cy="9601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059936"/>
            <a:ext cx="7452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9A6B2F"/>
                </a:solidFill>
                <a:latin typeface="Consolas"/>
                <a:ea typeface="Consolas"/>
              </a:rPr>
              <a:t>dobot_bringup_v4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 ×2（TCP/IP）· </a:t>
            </a:r>
            <a:r>
              <a:rPr sz="1200" b="0" i="0">
                <a:solidFill>
                  <a:srgbClr val="9A6B2F"/>
                </a:solidFill>
                <a:latin typeface="Consolas"/>
                <a:ea typeface="Consolas"/>
              </a:rPr>
              <a:t>realsense2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 相机驱动 ×3 · </a:t>
            </a:r>
            <a:r>
              <a:rPr sz="1200" b="0" i="0">
                <a:solidFill>
                  <a:srgbClr val="9A6B2F"/>
                </a:solidFill>
                <a:latin typeface="Consolas"/>
                <a:ea typeface="Consolas"/>
              </a:rPr>
              <a:t>xtrainer_gripper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 串口夹爪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102352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6B7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431536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</a:rPr>
              <a:t>硬件层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40280" y="5102352"/>
            <a:ext cx="7863840" cy="9601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5266944"/>
            <a:ext cx="7452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Nova2 机械臂 ×2 · RealSense D405 ×3 · 串口伺服夹爪 ×2 · 遥操作从手 ×2</a:t>
            </a:r>
          </a:p>
        </p:txBody>
      </p:sp>
      <p:pic>
        <p:nvPicPr>
          <p:cNvPr id="24" name="Picture 23" descr="t1_move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791366"/>
            <a:ext cx="1417320" cy="797242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2B4F"/>
                </a:solidFill>
                <a:latin typeface="微软雅黑"/>
                <a:ea typeface="微软雅黑"/>
              </a:rPr>
              <a:t>层级之间只通过 ROS2 话题 / 服务 / Action 通信 —— 任一层可独立替换与调试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02 硬件安装要点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为什么必须严格按照 CAD 文件安装？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任务一 · 环境安装与硬件搭建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5778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URDF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 是 ROS2 里机器人的“数字模型”：运动学、碰撞体、TF 关节树全部由它定义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本平台 URDF 直接来源于官方 CAD（</a:t>
            </a:r>
            <a:r>
              <a:rPr sz="1300" b="0" i="0">
                <a:solidFill>
                  <a:srgbClr val="9A6B2F"/>
                </a:solidFill>
                <a:latin typeface="Consolas"/>
                <a:ea typeface="Consolas"/>
              </a:rPr>
              <a:t>轻量版3D模型-5.28.step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）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安装偏差 → 数字模型与现实不符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，后果是：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 i="0">
                <a:solidFill>
                  <a:srgbClr val="2E75B6"/>
                </a:solidFill>
                <a:latin typeface="微软雅黑"/>
                <a:ea typeface="微软雅黑"/>
              </a:rPr>
              <a:t>• 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运动学误差 —— 规划到达的位姿 ≠ 实际位姿，视觉定位整体偏移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 b="0" i="0">
                <a:solidFill>
                  <a:srgbClr val="2E75B6"/>
                </a:solidFill>
                <a:latin typeface="微软雅黑"/>
                <a:ea typeface="微软雅黑"/>
              </a:rPr>
              <a:t>• 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碰撞检测失效 —— 规划认为安全，现实已经碰撞，造成危险与财产损失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安装完成后按图 1-1 / 1-2 测量关键安装参数，逐项对照检查</a:t>
            </a:r>
          </a:p>
        </p:txBody>
      </p:sp>
      <p:pic>
        <p:nvPicPr>
          <p:cNvPr id="9" name="Picture 8" descr="t1_cad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5285"/>
            <a:ext cx="5349240" cy="3737781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10" name="Rectangle 9"/>
          <p:cNvSpPr/>
          <p:nvPr/>
        </p:nvSpPr>
        <p:spPr>
          <a:xfrm>
            <a:off x="6355080" y="5833872"/>
            <a:ext cx="5349240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5875020"/>
            <a:ext cx="52029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图1-1 Xtrainer 关键安装参数（CAD 公差要求）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02 硬件安装要点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电气连接要点与机械臂安全设置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任务一 · 环境安装与硬件搭建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18488"/>
            <a:ext cx="59436" cy="197510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27631"/>
            <a:ext cx="3227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USB 带宽规划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84248"/>
            <a:ext cx="3154680" cy="1627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三个 D405 相机同时工作，USB 带宽约 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15 Gbps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相机分别插在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不同的 USB 根集线器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上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不经过拓展坞，防止相机与 USB 控制器崩溃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200"/>
            <a:ext cx="3520440" cy="22860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995928"/>
            <a:ext cx="59436" cy="2066543"/>
          </a:xfrm>
          <a:prstGeom prst="roundRect">
            <a:avLst>
              <a:gd name="adj" fmla="val 50000"/>
            </a:avLst>
          </a:prstGeom>
          <a:solidFill>
            <a:srgbClr val="2F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05072"/>
            <a:ext cx="3227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串口设备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361688"/>
            <a:ext cx="315468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2 套伺服夹爪走 USB 串口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用户加入 </a:t>
            </a:r>
            <a:r>
              <a:rPr sz="1150" b="0" i="0">
                <a:solidFill>
                  <a:srgbClr val="9A6B2F"/>
                </a:solidFill>
                <a:latin typeface="Consolas"/>
                <a:ea typeface="Consolas"/>
              </a:rPr>
              <a:t>dialout / plugdev / video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 组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9A6B2F"/>
                </a:solidFill>
                <a:latin typeface="Consolas"/>
                <a:ea typeface="Consolas"/>
              </a:rPr>
              <a:t>xtrainer_gripper/setup_udev.sh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 安装 Udev 规则固定设备名</a:t>
            </a:r>
          </a:p>
        </p:txBody>
      </p:sp>
      <p:pic>
        <p:nvPicPr>
          <p:cNvPr id="16" name="Picture 15" descr="t1_d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30" y="1508760"/>
            <a:ext cx="3485099" cy="2724912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4251960" y="4233671"/>
            <a:ext cx="3749039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4274819"/>
            <a:ext cx="36027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图1-4 机器人安全设置（DobotStudio Pro）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508760"/>
            <a:ext cx="3520440" cy="466344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3879" y="1618488"/>
            <a:ext cx="59436" cy="4443983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627631"/>
            <a:ext cx="3227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TCP/IP 二次开发模式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1984248"/>
            <a:ext cx="3154680" cy="40965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DobotStudio Pro → 远程控制模式，机械臂接受程序控制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Dashboard 29999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：使能 / 报错 / 运动控制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RealTime 30004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：ServoJ 实时关节反馈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关节到达限位时：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未使能状态解除抱闸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，手动把关节移回正常位置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709160"/>
            <a:ext cx="37490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机械臂 → TCP/IP → 实验计算机
相机 → USB 3.x → 实验计算机
夹爪 → USB 串口 → 实验计算机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03 软件环境搭建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软件环境安装路线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任务一 · 环境安装与硬件搭建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8" name="Pentagon 7"/>
          <p:cNvSpPr/>
          <p:nvPr/>
        </p:nvSpPr>
        <p:spPr>
          <a:xfrm>
            <a:off x="502920" y="1463040"/>
            <a:ext cx="2181758" cy="685800"/>
          </a:xfrm>
          <a:prstGeom prst="homePlat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Ubuntu 24.04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227319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操作系统</a:t>
            </a:r>
          </a:p>
        </p:txBody>
      </p:sp>
      <p:sp>
        <p:nvSpPr>
          <p:cNvPr id="10" name="Chevron 9"/>
          <p:cNvSpPr/>
          <p:nvPr/>
        </p:nvSpPr>
        <p:spPr>
          <a:xfrm>
            <a:off x="2757830" y="1463040"/>
            <a:ext cx="2181758" cy="68580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ROS2 Jazzy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2110" y="2203704"/>
            <a:ext cx="227319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ros-jazzy-desktop-full</a:t>
            </a:r>
          </a:p>
        </p:txBody>
      </p:sp>
      <p:sp>
        <p:nvSpPr>
          <p:cNvPr id="12" name="Chevron 11"/>
          <p:cNvSpPr/>
          <p:nvPr/>
        </p:nvSpPr>
        <p:spPr>
          <a:xfrm>
            <a:off x="5012740" y="1463040"/>
            <a:ext cx="2181758" cy="68580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ROS2 依赖包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7020" y="2203704"/>
            <a:ext cx="227319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moveit / realsense2 / aruco…</a:t>
            </a:r>
          </a:p>
        </p:txBody>
      </p:sp>
      <p:sp>
        <p:nvSpPr>
          <p:cNvPr id="14" name="Chevron 13"/>
          <p:cNvSpPr/>
          <p:nvPr/>
        </p:nvSpPr>
        <p:spPr>
          <a:xfrm>
            <a:off x="7267651" y="1463040"/>
            <a:ext cx="2181758" cy="68580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conda 深度学习环境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1931" y="2203704"/>
            <a:ext cx="227319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PyTorch + GDino + SAM2</a:t>
            </a:r>
          </a:p>
        </p:txBody>
      </p:sp>
      <p:sp>
        <p:nvSpPr>
          <p:cNvPr id="16" name="Chevron 15"/>
          <p:cNvSpPr/>
          <p:nvPr/>
        </p:nvSpPr>
        <p:spPr>
          <a:xfrm>
            <a:off x="9522561" y="1463040"/>
            <a:ext cx="2181758" cy="68580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colcon 编译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6841" y="2203704"/>
            <a:ext cx="227319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colcon build +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97480"/>
            <a:ext cx="6858000" cy="3520440"/>
          </a:xfrm>
          <a:prstGeom prst="roundRect">
            <a:avLst>
              <a:gd name="adj" fmla="val 6000"/>
            </a:avLst>
          </a:prstGeom>
          <a:solidFill>
            <a:srgbClr val="2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779776"/>
            <a:ext cx="6583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688"/>
                </a:solidFill>
                <a:latin typeface="Consolas"/>
                <a:ea typeface="Consolas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044952"/>
            <a:ext cx="6528816" cy="3081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8A93A3"/>
                </a:solidFill>
                <a:latin typeface="Consolas"/>
                <a:ea typeface="Consolas"/>
              </a:rPr>
              <a:t># 1. ROS2 Jazzy 与开发工具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CD9A3"/>
                </a:solidFill>
                <a:latin typeface="Consolas"/>
                <a:ea typeface="Consolas"/>
              </a:rPr>
              <a:t>$ sudo apt install ros-jazzy-desktop-full ros-dev-tools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A93A3"/>
                </a:solidFill>
                <a:latin typeface="Consolas"/>
                <a:ea typeface="Consolas"/>
              </a:rPr>
              <a:t># 2. 项目所需的 ROS2 软件包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CD9A3"/>
                </a:solidFill>
                <a:latin typeface="Consolas"/>
                <a:ea typeface="Consolas"/>
              </a:rPr>
              <a:t>$ sudo apt install ros-jazzy-moveit* ros-jazzy-realsense2*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CD9A3"/>
                </a:solidFill>
                <a:latin typeface="Consolas"/>
                <a:ea typeface="Consolas"/>
              </a:rPr>
              <a:t>$ sudo apt install ros-jazzy-aruco* ros-jazzy-trac-ik-kinematics-plugin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A93A3"/>
                </a:solidFill>
                <a:latin typeface="Consolas"/>
                <a:ea typeface="Consolas"/>
              </a:rPr>
              <a:t># 3. 克隆仓库并拉取全部子模块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CD9A3"/>
                </a:solidFill>
                <a:latin typeface="Consolas"/>
                <a:ea typeface="Consolas"/>
              </a:rPr>
              <a:t>$ git clone &lt;仓库地址&gt; dobot_ros2_sdk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CD9A3"/>
                </a:solidFill>
                <a:latin typeface="Consolas"/>
                <a:ea typeface="Consolas"/>
              </a:rPr>
              <a:t>$ git submodule update --init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A93A3"/>
                </a:solidFill>
                <a:latin typeface="Consolas"/>
                <a:ea typeface="Consolas"/>
              </a:rPr>
              <a:t># 4. 编译并加载工作空间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CD9A3"/>
                </a:solidFill>
                <a:latin typeface="Consolas"/>
                <a:ea typeface="Consolas"/>
              </a:rPr>
              <a:t>$ colcon build &amp;&amp; source ./install/setup.bash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97480"/>
            <a:ext cx="4069080" cy="22860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35240" y="2807208"/>
            <a:ext cx="59436" cy="2066543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2816352"/>
            <a:ext cx="3776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依赖包各自解决什么？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3172968"/>
            <a:ext cx="370332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9A6B2F"/>
                </a:solidFill>
                <a:latin typeface="Consolas"/>
                <a:ea typeface="Consolas"/>
              </a:rPr>
              <a:t>moveit*</a:t>
            </a: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 — 运动规划（OMPL / Pilz）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9A6B2F"/>
                </a:solidFill>
                <a:latin typeface="Consolas"/>
                <a:ea typeface="Consolas"/>
              </a:rPr>
              <a:t>trac-ik-kinematics-plugin</a:t>
            </a: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 — 数值 IK 求解器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9A6B2F"/>
                </a:solidFill>
                <a:latin typeface="Consolas"/>
                <a:ea typeface="Consolas"/>
              </a:rPr>
              <a:t>realsense2*</a:t>
            </a: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 — 相机驱动与对齐深度图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9A6B2F"/>
                </a:solidFill>
                <a:latin typeface="Consolas"/>
                <a:ea typeface="Consolas"/>
              </a:rPr>
              <a:t>aruco*</a:t>
            </a: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 — 标定板检测（handeye 依赖）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5120640"/>
            <a:ext cx="4069080" cy="109728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5240" y="5230368"/>
            <a:ext cx="59436" cy="877824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19" y="5239512"/>
            <a:ext cx="3776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42B4F"/>
                </a:solidFill>
                <a:latin typeface="微软雅黑"/>
                <a:ea typeface="微软雅黑"/>
              </a:rPr>
              <a:t>conda 环境检查点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5596127"/>
            <a:ext cx="37033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微软雅黑"/>
                <a:ea typeface="微软雅黑"/>
              </a:rPr>
              <a:t>numpy </a:t>
            </a:r>
            <a:r>
              <a:rPr sz="1100" b="1" i="0">
                <a:solidFill>
                  <a:srgbClr val="2E75B6"/>
                </a:solidFill>
                <a:latin typeface="微软雅黑"/>
                <a:ea typeface="微软雅黑"/>
              </a:rPr>
              <a:t>1.26.4</a:t>
            </a:r>
            <a:r>
              <a:rPr sz="1100" b="0" i="0">
                <a:solidFill>
                  <a:srgbClr val="262626"/>
                </a:solidFill>
                <a:latin typeface="微软雅黑"/>
                <a:ea typeface="微软雅黑"/>
              </a:rPr>
              <a:t> / scipy </a:t>
            </a:r>
            <a:r>
              <a:rPr sz="1100" b="1" i="0">
                <a:solidFill>
                  <a:srgbClr val="2E75B6"/>
                </a:solidFill>
                <a:latin typeface="微软雅黑"/>
                <a:ea typeface="微软雅黑"/>
              </a:rPr>
              <a:t>1.13.1</a:t>
            </a:r>
            <a:r>
              <a:rPr sz="1100" b="0" i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r>
              <a:rPr sz="1000" b="0" i="0">
                <a:solidFill>
                  <a:srgbClr val="9A6B2F"/>
                </a:solidFill>
                <a:latin typeface="Consolas"/>
                <a:ea typeface="Consolas"/>
              </a:rPr>
              <a:t>which colcon</a:t>
            </a:r>
            <a:r>
              <a:rPr sz="1100" b="0" i="0">
                <a:solidFill>
                  <a:srgbClr val="262626"/>
                </a:solidFill>
                <a:latin typeface="微软雅黑"/>
                <a:ea typeface="微软雅黑"/>
              </a:rPr>
              <a:t> 必须指向 conda 环境内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03 软件环境搭建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深度学习推理链：GroundingDINO + SAM2 的部署要点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任务一 · 环境安装与硬件搭建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18488"/>
            <a:ext cx="59436" cy="252374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27631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① CUDA 版本决定仓库选择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84248"/>
            <a:ext cx="512064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CUDA ≤ 11.8：直接安装 GroundingDINO 与 SAM2 两个仓库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CUDA &gt; 11.8：使用 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Grounded-SAM-2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 仓库（本项目实测），统一管理两模型并修改 import 路径后 </a:t>
            </a:r>
            <a:r>
              <a:rPr sz="1150" b="0" i="0">
                <a:solidFill>
                  <a:srgbClr val="9A6B2F"/>
                </a:solidFill>
                <a:latin typeface="Consolas"/>
                <a:ea typeface="Consolas"/>
              </a:rPr>
              <a:t>pip install -e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434840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4544568"/>
            <a:ext cx="59436" cy="1563624"/>
          </a:xfrm>
          <a:prstGeom prst="roundRect">
            <a:avLst>
              <a:gd name="adj" fmla="val 50000"/>
            </a:avLst>
          </a:prstGeom>
          <a:solidFill>
            <a:srgbClr val="2F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53712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③ 可选：GraspNet 抓取位姿估计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910327"/>
            <a:ext cx="5120640" cy="1216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官方版兼容性差，推荐修改版 </a:t>
            </a:r>
            <a:r>
              <a:rPr sz="1100" b="0" i="0">
                <a:solidFill>
                  <a:srgbClr val="9A6B2F"/>
                </a:solidFill>
                <a:latin typeface="Consolas"/>
                <a:ea typeface="Consolas"/>
              </a:rPr>
              <a:t>github.com/kiramint/graspnet-baseline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；Checkpoint 已随仓库提供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0876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618488"/>
            <a:ext cx="59436" cy="2523744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27631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② 修改 dino_wrapper.py 模型路径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984248"/>
            <a:ext cx="512064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9A6B2F"/>
                </a:solidFill>
                <a:latin typeface="Consolas"/>
                <a:ea typeface="Consolas"/>
              </a:rPr>
              <a:t>_GSAM2_ROOT = /path/to/Grounded-SAM-2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SAM2：checkpoints/</a:t>
            </a:r>
            <a:r>
              <a:rPr sz="1100" b="0" i="0">
                <a:solidFill>
                  <a:srgbClr val="9A6B2F"/>
                </a:solidFill>
                <a:latin typeface="Consolas"/>
                <a:ea typeface="Consolas"/>
              </a:rPr>
              <a:t>sam2.1_hiera_large.pt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 + configs/sam2.1/sam2.1_hiera_l.yaml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GDino：</a:t>
            </a:r>
            <a:r>
              <a:rPr sz="1100" b="0" i="0">
                <a:solidFill>
                  <a:srgbClr val="9A6B2F"/>
                </a:solidFill>
                <a:latin typeface="Consolas"/>
                <a:ea typeface="Consolas"/>
              </a:rPr>
              <a:t>GroundingDINO_SwinT_OGC.py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 + </a:t>
            </a:r>
            <a:r>
              <a:rPr sz="1100" b="0" i="0">
                <a:solidFill>
                  <a:srgbClr val="9A6B2F"/>
                </a:solidFill>
                <a:latin typeface="Consolas"/>
                <a:ea typeface="Consolas"/>
              </a:rPr>
              <a:t>groundingdino_swint_ogc.pth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434840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4544568"/>
            <a:ext cx="59436" cy="1563624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553712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④ 运行时缺库修复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910327"/>
            <a:ext cx="5120640" cy="1216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报 </a:t>
            </a:r>
            <a:r>
              <a:rPr sz="1100" b="0" i="0">
                <a:solidFill>
                  <a:srgbClr val="9A6B2F"/>
                </a:solidFill>
                <a:latin typeface="Consolas"/>
                <a:ea typeface="Consolas"/>
              </a:rPr>
              <a:t>NameError: _C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：把 torch / nvidia 的 </a:t>
            </a:r>
            <a:r>
              <a:rPr sz="1100" b="0" i="0">
                <a:solidFill>
                  <a:srgbClr val="9A6B2F"/>
                </a:solidFill>
                <a:latin typeface="Consolas"/>
                <a:ea typeface="Consolas"/>
              </a:rPr>
              <a:t>.so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 软链到 </a:t>
            </a:r>
            <a:r>
              <a:rPr sz="1100" b="0" i="0">
                <a:solidFill>
                  <a:srgbClr val="9A6B2F"/>
                </a:solidFill>
                <a:latin typeface="Consolas"/>
                <a:ea typeface="Consolas"/>
              </a:rPr>
              <a:t>$CONDA_PREFIX/lib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（须在 conda 激活状态下执行）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04 相机手眼标定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手眼标定：把“相机看到的”变成“机器人知道的”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任务一 · 环境安装与硬件搭建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求相机坐标系与机械臂坐标系之间的固定刚体变换（经典手眼问题 AX = XB），使视觉检测结果能换算到 base_link 下驱动机器人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486400" cy="173736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075688"/>
            <a:ext cx="59436" cy="151790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eye_on_base（相机固定不动）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20640" cy="1170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相机装在固定框架上 → 标定 </a:t>
            </a:r>
            <a:r>
              <a:rPr sz="1150" b="0" i="0">
                <a:solidFill>
                  <a:srgbClr val="9A6B2F"/>
                </a:solidFill>
                <a:latin typeface="Consolas"/>
                <a:ea typeface="Consolas"/>
              </a:rPr>
              <a:t>base_link → camera_link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适用于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顶部相机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（俯视全局，不随臂运动）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65960"/>
            <a:ext cx="5486400" cy="173736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075688"/>
            <a:ext cx="59436" cy="1517904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84831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eye_in_hand（相机随腕运动）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441448"/>
            <a:ext cx="5120640" cy="1170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相机装在机械臂末端 → 标定 </a:t>
            </a:r>
            <a:r>
              <a:rPr sz="1150" b="0" i="0">
                <a:solidFill>
                  <a:srgbClr val="9A6B2F"/>
                </a:solidFill>
                <a:latin typeface="Consolas"/>
                <a:ea typeface="Consolas"/>
              </a:rPr>
              <a:t>末端 link → camera_link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适用于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左右手相机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（近距特写，视野随臂变化）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977639"/>
          <a:ext cx="7863838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4045"/>
                <a:gridCol w="1497874"/>
                <a:gridCol w="1404257"/>
                <a:gridCol w="1404257"/>
                <a:gridCol w="1123405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标定文件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相机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标定名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effector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9A6B2F"/>
                          </a:solidFill>
                          <a:latin typeface="Consolas"/>
                          <a:ea typeface="Consolas"/>
                        </a:rPr>
                        <a:t>calibrate_top.launch.py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camera_top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eye_on_base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top_cam_cal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L1_6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9A6B2F"/>
                          </a:solidFill>
                          <a:latin typeface="Consolas"/>
                          <a:ea typeface="Consolas"/>
                        </a:rPr>
                        <a:t>calibrate_left.launch.py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camera_left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eye_in_hand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left_cam_cal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L1_6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9A6B2F"/>
                          </a:solidFill>
                          <a:latin typeface="Consolas"/>
                          <a:ea typeface="Consolas"/>
                        </a:rPr>
                        <a:t>calibrate_right.launch.py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camera_right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eye_in_hand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right_cam_cal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L2_6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595360" y="3931920"/>
            <a:ext cx="3108960" cy="210312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4041648"/>
            <a:ext cx="59436" cy="1883663"/>
          </a:xfrm>
          <a:prstGeom prst="roundRect">
            <a:avLst>
              <a:gd name="adj" fmla="val 50000"/>
            </a:avLst>
          </a:prstGeom>
          <a:solidFill>
            <a:srgbClr val="2F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4050791"/>
            <a:ext cx="2816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ArUco 标定板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4407408"/>
            <a:ext cx="2743200" cy="1536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Marker ID 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99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边长 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78 mm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角点细化 LINES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板不一致时改 launch 中的 aruco_single_params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04 相机手眼标定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标定流程：三个相机依次完成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任务一 · 环境安装与硬件搭建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6309360" cy="3200400"/>
          </a:xfrm>
          <a:prstGeom prst="roundRect">
            <a:avLst>
              <a:gd name="adj" fmla="val 6000"/>
            </a:avLst>
          </a:prstGeom>
          <a:solidFill>
            <a:srgbClr val="2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91056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688"/>
                </a:solidFill>
                <a:latin typeface="Consolas"/>
                <a:ea typeface="Consolas"/>
              </a:rPr>
              <a:t>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56231"/>
            <a:ext cx="5980176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8A93A3"/>
                </a:solidFill>
                <a:latin typeface="Consolas"/>
                <a:ea typeface="Consolas"/>
              </a:rPr>
              <a:t># 1. 启动机器人驱动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CD9A3"/>
                </a:solidFill>
                <a:latin typeface="Consolas"/>
                <a:ea typeface="Consolas"/>
              </a:rPr>
              <a:t>$ ros2 launch cr_robot_ros2 xtrainer.launch.py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A93A3"/>
                </a:solidFill>
                <a:latin typeface="Consolas"/>
                <a:ea typeface="Consolas"/>
              </a:rPr>
              <a:t># 2. 进入拖动示教模式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CD9A3"/>
                </a:solidFill>
                <a:latin typeface="Consolas"/>
                <a:ea typeface="Consolas"/>
              </a:rPr>
              <a:t>$ ros2 launch xtrainer_control enable_and_drag.launch.py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A93A3"/>
                </a:solidFill>
                <a:latin typeface="Consolas"/>
                <a:ea typeface="Consolas"/>
              </a:rPr>
              <a:t># 3. 启动标定程序（top / left / right）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CD9A3"/>
                </a:solidFill>
                <a:latin typeface="Consolas"/>
                <a:ea typeface="Consolas"/>
              </a:rPr>
              <a:t>$ ros2 launch xtrainer_control calibrate_&lt;CAMERA&gt;.launch.py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A93A3"/>
                </a:solidFill>
                <a:latin typeface="Consolas"/>
                <a:ea typeface="Consolas"/>
              </a:rPr>
              <a:t># 4. rqt 打开 Image View，订阅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E8E8E8"/>
                </a:solidFill>
                <a:latin typeface="Consolas"/>
                <a:ea typeface="Consolas"/>
              </a:rPr>
              <a:t>/aruco_single/result   # 确认 ArUco 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508760"/>
            <a:ext cx="46177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识别稳定不抖动后再采样，否则影响标定精度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反复拖动机械臂改变位姿，采集 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≈20 张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样本后 Save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结果保存于 </a:t>
            </a:r>
            <a:r>
              <a:rPr sz="1150" b="0" i="0">
                <a:solidFill>
                  <a:srgbClr val="9A6B2F"/>
                </a:solidFill>
                <a:latin typeface="Consolas"/>
                <a:ea typeface="Consolas"/>
              </a:rPr>
              <a:t>~/.ros2/easy_handeye2/calibrations/&lt;name&gt;.calib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rviz 加载不出标定插件时：</a:t>
            </a:r>
            <a:r>
              <a:rPr sz="1150" b="0" i="0">
                <a:solidFill>
                  <a:srgbClr val="9A6B2F"/>
                </a:solidFill>
                <a:latin typeface="Consolas"/>
                <a:ea typeface="Consolas"/>
              </a:rPr>
              <a:t>rqt --force-discover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easy_handeye2 与深度学习环境不兼容 —— 在 conda 环境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外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编译运行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937760"/>
            <a:ext cx="11201400" cy="128016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5047488"/>
            <a:ext cx="59436" cy="106070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056632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摆放规则（谁动谁静）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413248"/>
            <a:ext cx="10835640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eye_on_base（顶相机）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：标定板夹在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左机械臂夹爪上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随臂运动；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eye_in_hand（左右手）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：标定板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固定在桌面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不动 —— 原理上“动”的一方提供姿态变化，解出不变的 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04 相机手眼标定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标定结果的用途：串起完整 TF 树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任务一 · 环境安装与硬件搭建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7607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0" i="0">
                <a:solidFill>
                  <a:srgbClr val="9A6B2F"/>
                </a:solidFill>
                <a:latin typeface="Consolas"/>
                <a:ea typeface="Consolas"/>
              </a:rPr>
              <a:t>start.launch.py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 检测到 </a:t>
            </a:r>
            <a:r>
              <a:rPr sz="1300" b="0" i="0">
                <a:solidFill>
                  <a:srgbClr val="9A6B2F"/>
                </a:solidFill>
                <a:latin typeface="Consolas"/>
                <a:ea typeface="Consolas"/>
              </a:rPr>
              <a:t>.calib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 文件 → 自动启动标定结果发布节点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TF 树补全：</a:t>
            </a:r>
            <a:r>
              <a:rPr sz="1300" b="0" i="0">
                <a:solidFill>
                  <a:srgbClr val="9A6B2F"/>
                </a:solidFill>
                <a:latin typeface="Consolas"/>
                <a:ea typeface="Consolas"/>
              </a:rPr>
              <a:t>base_link → L*_6 → camera_*_link → …_optical_frame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后续所有视觉定位都走同一条数据流：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 i="0">
                <a:solidFill>
                  <a:srgbClr val="2E75B6"/>
                </a:solidFill>
                <a:latin typeface="微软雅黑"/>
                <a:ea typeface="微软雅黑"/>
              </a:rPr>
              <a:t>• 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像素 (u,v) + 深度 → 相机内参反投影 → 相机光学系 3D 点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 b="0" i="0">
                <a:solidFill>
                  <a:srgbClr val="2E75B6"/>
                </a:solidFill>
                <a:latin typeface="微软雅黑"/>
                <a:ea typeface="微软雅黑"/>
              </a:rPr>
              <a:t>• 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→ tf2 变换 → </a:t>
            </a:r>
            <a:r>
              <a:rPr sz="1300" b="0" i="0">
                <a:solidFill>
                  <a:srgbClr val="9A6B2F"/>
                </a:solidFill>
                <a:latin typeface="Consolas"/>
                <a:ea typeface="Consolas"/>
              </a:rPr>
              <a:t>base_link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 下的 3D 坐标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任一环节缺失或错误 → 定位整体偏移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（任务二/三/四的所有“定位不准”问题都从这里查起）</a:t>
            </a:r>
          </a:p>
        </p:txBody>
      </p:sp>
      <p:pic>
        <p:nvPicPr>
          <p:cNvPr id="9" name="Picture 8" descr="t1_t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23277"/>
            <a:ext cx="5212080" cy="2850356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10" name="Rectangle 9"/>
          <p:cNvSpPr/>
          <p:nvPr/>
        </p:nvSpPr>
        <p:spPr>
          <a:xfrm>
            <a:off x="6492240" y="5788152"/>
            <a:ext cx="5212080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5829300"/>
            <a:ext cx="50657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图1-8 标定完成后的完整 TF 树（rqt TF Tree）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05 验证与运行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安装验证：一键启动与 URDF 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任务一 · 环境安装与硬件搭建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6309360" cy="2880360"/>
          </a:xfrm>
          <a:prstGeom prst="roundRect">
            <a:avLst>
              <a:gd name="adj" fmla="val 6000"/>
            </a:avLst>
          </a:prstGeom>
          <a:solidFill>
            <a:srgbClr val="2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91056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688"/>
                </a:solidFill>
                <a:latin typeface="Consolas"/>
                <a:ea typeface="Consolas"/>
              </a:rPr>
              <a:t>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56231"/>
            <a:ext cx="5980176" cy="2441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8A93A3"/>
                </a:solidFill>
                <a:latin typeface="Consolas"/>
                <a:ea typeface="Consolas"/>
              </a:rPr>
              <a:t># 启动全部硬件（推荐）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CD9A3"/>
                </a:solidFill>
                <a:latin typeface="Consolas"/>
                <a:ea typeface="Consolas"/>
              </a:rPr>
              <a:t>$ ros2 launch xtrainer_control start.launch.py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A93A3"/>
                </a:solidFill>
                <a:latin typeface="Consolas"/>
                <a:ea typeface="Consolas"/>
              </a:rPr>
              <a:t># 或仅启动双臂驱动（二选一）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CD9A3"/>
                </a:solidFill>
                <a:latin typeface="Consolas"/>
                <a:ea typeface="Consolas"/>
              </a:rPr>
              <a:t>$ ros2 launch cr_robot_ros2 xtrainer.launch.py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A93A3"/>
                </a:solidFill>
                <a:latin typeface="Consolas"/>
                <a:ea typeface="Consolas"/>
              </a:rPr>
              <a:t># 使能双臂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CD9A3"/>
                </a:solidFill>
                <a:latin typeface="Consolas"/>
                <a:ea typeface="Consolas"/>
              </a:rPr>
              <a:t>$ ros2 launch xtrainer_control enable.launch.py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A93A3"/>
                </a:solidFill>
                <a:latin typeface="Consolas"/>
                <a:ea typeface="Consolas"/>
              </a:rPr>
              <a:t># MoveIt 可视化：拖动机械臂对照模型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CD9A3"/>
                </a:solidFill>
                <a:latin typeface="Consolas"/>
                <a:ea typeface="Consolas"/>
              </a:rPr>
              <a:t>$ ros2 launch moveit_test demo.launch.py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508760"/>
            <a:ext cx="4617720" cy="288036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86600" y="1618488"/>
            <a:ext cx="59436" cy="266090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627631"/>
            <a:ext cx="4325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start.launch.py 做了什么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1984248"/>
            <a:ext cx="4251959" cy="2313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双臂驱动 + robot_state_publisher + bridge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夹爪节点 + 三个相机 + 点云生成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加载三个相机标定结果并发布 TF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延时 3 s 自动使能双臂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6344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D9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28032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2B4F"/>
                </a:solidFill>
                <a:latin typeface="微软雅黑"/>
                <a:ea typeface="微软雅黑"/>
              </a:rPr>
              <a:t>验证要点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拖动机械臂，观察 RViz 中 URDF 模型与现实同步 —— 证明安装尺寸与 CAD 一致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Wayland 下 RViz2 渲染异常时：</a:t>
            </a:r>
            <a:r>
              <a:rPr sz="1100" b="0" i="0">
                <a:solidFill>
                  <a:srgbClr val="9A6B2F"/>
                </a:solidFill>
                <a:latin typeface="Consolas"/>
                <a:ea typeface="Consolas"/>
              </a:rPr>
              <a:t>export QT_QPA_PLATFORM=xcb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 强制 X11 渲染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45720"/>
            <a:ext cx="3108960" cy="3108960"/>
          </a:xfrm>
          <a:prstGeom prst="ellipse">
            <a:avLst/>
          </a:prstGeom>
          <a:noFill/>
          <a:ln w="19050">
            <a:solidFill>
              <a:srgbClr val="1B3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457200"/>
            <a:ext cx="2286000" cy="2286000"/>
          </a:xfrm>
          <a:prstGeom prst="ellipse">
            <a:avLst/>
          </a:prstGeom>
          <a:noFill/>
          <a:ln w="19050">
            <a:solidFill>
              <a:srgbClr val="224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72600" y="868680"/>
            <a:ext cx="1463040" cy="1463040"/>
          </a:xfrm>
          <a:prstGeom prst="ellipse">
            <a:avLst/>
          </a:prstGeom>
          <a:noFill/>
          <a:ln w="19050">
            <a:solidFill>
              <a:srgbClr val="2A4C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71632" y="1536192"/>
            <a:ext cx="128016" cy="128016"/>
          </a:xfrm>
          <a:prstGeom prst="ellipse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868680"/>
            <a:ext cx="73152" cy="73152"/>
          </a:xfrm>
          <a:prstGeom prst="ellipse">
            <a:avLst/>
          </a:prstGeom>
          <a:solidFill>
            <a:srgbClr val="3A5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20240" y="1371600"/>
            <a:ext cx="45720" cy="45720"/>
          </a:xfrm>
          <a:prstGeom prst="ellipse">
            <a:avLst/>
          </a:prstGeom>
          <a:solidFill>
            <a:srgbClr val="2A4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2103120"/>
            <a:ext cx="1219169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92927" y="3456432"/>
            <a:ext cx="1005840" cy="50292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3730752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BDD3EE"/>
                </a:solidFill>
                <a:latin typeface="微软雅黑"/>
                <a:ea typeface="微软雅黑"/>
              </a:rPr>
              <a:t>Xtrainer 双臂机器人实训 · 任务一 环境安装与硬件搭建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199632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FA8C8"/>
                </a:solidFill>
                <a:latin typeface="微软雅黑"/>
                <a:ea typeface="微软雅黑"/>
              </a:rPr>
              <a:t>深圳市越疆科技股份有限公司 · 实训教学课件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