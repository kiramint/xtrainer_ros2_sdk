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69480" y="1051560"/>
            <a:ext cx="4754880" cy="475488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8120" y="1600200"/>
            <a:ext cx="3657600" cy="36576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2148840"/>
            <a:ext cx="2560320" cy="256032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53928" y="3355848"/>
            <a:ext cx="146304" cy="146304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26680" y="5029200"/>
            <a:ext cx="91440" cy="91440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14E"/>
                </a:solidFill>
                <a:latin typeface="微软雅黑"/>
                <a:ea typeface="微软雅黑"/>
              </a:rPr>
              <a:t>Xtrainer 双臂机器人实训 · 自主分拣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任务四  废料抓取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10128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DD3EE"/>
                </a:solidFill>
                <a:latin typeface="微软雅黑"/>
                <a:ea typeface="微软雅黑"/>
              </a:rPr>
              <a:t>目标未知的自主抓取：多目标分割排序 × 任意朝向几何顶抓 × 异常换臂重试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「桌面检测 → 物体分割 → 最高优先」的检测策略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SAM2 自动掩码生成器：一次分割出桌上全部物体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minAreaRect 长轴拟合 + 梯形矫正 → 任意朝向 3D 方向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J6 行程最小化 _flip_j6_if_needed 与失败换臂机制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本讲内容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任务概览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与前三任务的差异 · 五步循环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多目标检测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桌面掩码 · 自动掩码生成 · 高度排序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几何顶抓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minAreaRect 长轴 · 梯形矫正 · 两步执行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工程保障机制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J6 行程最小化 · 换臂重试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空中传递版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handover 双臂交接 · 与单臂版对比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调试与排查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参数与异常现象分析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01 任务概览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废料抓取：目标完全未知的自主分拣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与前三个任务的最大区别：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目标不固定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桌上是什么物体、有几个、什么位置姿态 —— 事先完全未知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需要机器人“自主”发现并逐一抓取，循环直到清空桌面</a:t>
            </a:r>
          </a:p>
        </p:txBody>
      </p:sp>
      <p:sp>
        <p:nvSpPr>
          <p:cNvPr id="9" name="Pentagon 8"/>
          <p:cNvSpPr/>
          <p:nvPr/>
        </p:nvSpPr>
        <p:spPr>
          <a:xfrm>
            <a:off x="502920" y="3977639"/>
            <a:ext cx="2181758" cy="73152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① 桌面检测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64023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顶相机+SAM2</a:t>
            </a:r>
          </a:p>
        </p:txBody>
      </p:sp>
      <p:sp>
        <p:nvSpPr>
          <p:cNvPr id="11" name="Chevron 10"/>
          <p:cNvSpPr/>
          <p:nvPr/>
        </p:nvSpPr>
        <p:spPr>
          <a:xfrm>
            <a:off x="2757830" y="3977639"/>
            <a:ext cx="2181758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② 接近物体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110" y="4764023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tip 上方10cm</a:t>
            </a:r>
          </a:p>
        </p:txBody>
      </p:sp>
      <p:sp>
        <p:nvSpPr>
          <p:cNvPr id="13" name="Chevron 12"/>
          <p:cNvSpPr/>
          <p:nvPr/>
        </p:nvSpPr>
        <p:spPr>
          <a:xfrm>
            <a:off x="5012740" y="3977639"/>
            <a:ext cx="2181758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③ 检测并顶抓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7020" y="4764023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手相机+minAreaRect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7267651" y="3977639"/>
            <a:ext cx="2181758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④ 垂直抬升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1931" y="4764023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保持姿态+20cm</a:t>
            </a:r>
          </a:p>
        </p:txBody>
      </p:sp>
      <p:sp>
        <p:nvSpPr>
          <p:cNvPr id="17" name="Chevron 16"/>
          <p:cNvSpPr/>
          <p:nvPr/>
        </p:nvSpPr>
        <p:spPr>
          <a:xfrm>
            <a:off x="9522561" y="3977639"/>
            <a:ext cx="2181758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⑤ 放置物体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6841" y="4764023"/>
            <a:ext cx="227319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固定位张爪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4068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0527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循环退出条件：连续 3 轮桌面无物体 → 双臂回 Home（3 轮冗余防止漏检误退出）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多目标检测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步骤一：桌面检测 → 物体分割 → 高度排序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563624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904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检测白色桌面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顶相机 + GroundingDINO 检测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"white square."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，SAM2 切出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桌面掩码与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" y="1993392"/>
            <a:ext cx="27432" cy="384048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2432304"/>
            <a:ext cx="365760" cy="365760"/>
          </a:xfrm>
          <a:prstGeom prst="ellipse">
            <a:avLst/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59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分割桌上物体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ROI 内运行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SAM2 自动掩码生成器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（SAM2AutomaticMaskGenerator），无需逐一提示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" y="2862072"/>
            <a:ext cx="27432" cy="384048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3300984"/>
            <a:ext cx="365760" cy="365760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27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过滤有效掩码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661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排除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桌面本身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与落在桌面轮廓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以外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的掩码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" y="3730752"/>
            <a:ext cx="27432" cy="384048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4169664"/>
            <a:ext cx="365760" cy="365760"/>
          </a:xfrm>
          <a:prstGeom prst="ellipse">
            <a:avLst/>
          </a:prstGeom>
          <a:solidFill>
            <a:srgbClr val="8A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965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映射点云测高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物体掩码映射到点云，取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z 中位数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为物体高度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" y="4599432"/>
            <a:ext cx="27432" cy="384048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5038344"/>
            <a:ext cx="365760" cy="36576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651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最高优先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03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优先抓最高（离相机最近）物体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，避免下降时碰倒高物</a:t>
            </a:r>
          </a:p>
        </p:txBody>
      </p:sp>
      <p:pic>
        <p:nvPicPr>
          <p:cNvPr id="27" name="Picture 26" descr="t4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42146"/>
            <a:ext cx="4800600" cy="2907363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28" name="Rectangle 27"/>
          <p:cNvSpPr/>
          <p:nvPr/>
        </p:nvSpPr>
        <p:spPr>
          <a:xfrm>
            <a:off x="6903720" y="4946904"/>
            <a:ext cx="48006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4988052"/>
            <a:ext cx="4654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桌面掩码 + 各物体自动分割可视化（按 'q' 退出检测循环）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5440680"/>
            <a:ext cx="4800600" cy="9601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03720" y="5550408"/>
            <a:ext cx="59436" cy="74066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5559552"/>
            <a:ext cx="45079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2B4F"/>
                </a:solidFill>
                <a:latin typeface="微软雅黑"/>
                <a:ea typeface="微软雅黑"/>
              </a:rPr>
              <a:t>为什么用「自动掩码生成」？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5916168"/>
            <a:ext cx="44348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物体数量未知、类别不定 —— 生成器一次切出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所有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可分区域，再靠桌面掩码过滤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多目标检测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步骤二：接近物体（深度 + TF 定位）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760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取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最高物体 ROI 中心像素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 (u,v)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深度相机 + TF 变换 → 物体中心 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base_link 3D 坐标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（同任务二环节②）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移动机械臂 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tip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（</a:t>
            </a:r>
            <a:r>
              <a:rPr sz="1250" b="0" i="0">
                <a:solidFill>
                  <a:srgbClr val="9A6B2F"/>
                </a:solidFill>
                <a:latin typeface="Consolas"/>
                <a:ea typeface="Consolas"/>
              </a:rPr>
              <a:t>L*_gripper_tip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）到物体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上方 10cm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姿态：夹爪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垂直朝下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（顶抓姿态）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规划器：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OMPL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（大范围移动）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默认 Arm1 开始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；规划失败自动换另一只手臂尝试</a:t>
            </a:r>
          </a:p>
        </p:txBody>
      </p:sp>
      <p:pic>
        <p:nvPicPr>
          <p:cNvPr id="9" name="Picture 8" descr="t4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03523"/>
            <a:ext cx="5257800" cy="3489864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446520" y="5742432"/>
            <a:ext cx="52578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5783580"/>
            <a:ext cx="51114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机械臂移动到目标上方（RViz 规划轨迹）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几何顶抓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步骤三（上）：minAreaRect 拟合长轴估计 3D 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760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手上相机（Arm1→camera_left / Arm2→camera_right）检测 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"object."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+ SAM2 切分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选取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最靠近画面中心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的掩码（排除背景杂物）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对掩码做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最小外接矩形 minAreaRect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，取其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长轴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长轴两端点分别经深度 + TF 变换到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base_link</a:t>
            </a:r>
          </a:p>
        </p:txBody>
      </p:sp>
      <p:pic>
        <p:nvPicPr>
          <p:cNvPr id="9" name="Picture 8" descr="t4_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602" y="1508760"/>
            <a:ext cx="5019635" cy="299923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446520" y="4507992"/>
            <a:ext cx="52578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4549140"/>
            <a:ext cx="51114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手相机检测物体 + minAreaRect 长轴拟合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26280"/>
            <a:ext cx="11201400" cy="1554480"/>
          </a:xfrm>
          <a:prstGeom prst="roundRect">
            <a:avLst>
              <a:gd name="adj" fmla="val 8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8172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关键细节：梯形矫正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手相机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斜拍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物体存在透视畸变 —— 像素长轴 ≠ 真实方向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程序对斜拍畸变做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梯形矫正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后，再由两端点 3D 坐标求物体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真实 3D 方向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（比 PCA 单目估计更准）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几何顶抓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步骤三（下）：先对准、再下降的两步执行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第一步：当前高度旋转手腕对准 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夹爪开合方向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垂直物体长轴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（侧夹）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Pilz LIN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 旋转，失败退 PTP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55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第二步：垂直下降到物体高度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tip 最低限位 0.0461m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（防撞桌）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到位后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闭合夹爪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完成顶抓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514600"/>
            <a:ext cx="274320" cy="32004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11201400" cy="1051560"/>
          </a:xfrm>
          <a:prstGeom prst="roundRect">
            <a:avLst>
              <a:gd name="adj" fmla="val 8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为什么要分两步？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9884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边旋转边下降的螺旋轨迹难以规划且易碰倒物体；先水平对准 → 再纯垂直下降，每段都是简单、可验证的运动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12080"/>
            <a:ext cx="11201400" cy="10058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5321808"/>
            <a:ext cx="59436" cy="786384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3095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失败处理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687568"/>
            <a:ext cx="10835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失败 3 次自动回 Home 并换臂重试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—— 单点故障不中断整个循环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工程保障机制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J6 行程最小化：_flip_j6_if_needed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201400" cy="8229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J6 是有界回转关节（±360°，不可回环）—— 目标角 + 360° 与原目标等价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504D"/>
                </a:solidFill>
                <a:latin typeface="微软雅黑"/>
                <a:ea typeface="微软雅黑"/>
              </a:rPr>
              <a:t>不优化：手腕大幅翻转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例：当前 J6 = 170°，IK 解 = −170°
（IK 输出限制在 ±180° 内）
直接执行 → 需转过 340°，几乎整圈回旋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8E5B"/>
                </a:solidFill>
                <a:latin typeface="微软雅黑"/>
                <a:ea typeface="微软雅黑"/>
              </a:rPr>
              <a:t>优化后：行程最小的等价目标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−170° + 360° = +190°，与 −170° 等价
170° → 190° 只需转过 20°
避免不必要的大翻转与限位风险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11201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程序在规划前自动检查并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翻转 J6 目标角 ±360°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，选取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行程最小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的等价解重规划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异常：若仍出现大翻转，检查 J6 是否已接近 ±360° 限位（需手动回 Home 复位）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工程保障机制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抬升、放置与换臂重试策略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59436" cy="17465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步骤四：垂直抬升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5120640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保持姿态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垂直抬升 20cm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规划失败 → 目标高度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每次降低 1cm 重试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（递降重试）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721608"/>
            <a:ext cx="59436" cy="1746504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步骤五：放置物体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087368"/>
            <a:ext cx="5120640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移动到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固定放置位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（两臂各预存一组位姿/关节值，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step_place_object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张开夹爪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放下物体 → 回到步骤一继续抓取</a:t>
            </a:r>
          </a:p>
        </p:txBody>
      </p:sp>
      <p:pic>
        <p:nvPicPr>
          <p:cNvPr id="16" name="Picture 15" descr="t4_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248" y="1508760"/>
            <a:ext cx="2797743" cy="199339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6217920" y="3502152"/>
            <a:ext cx="54864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543300"/>
            <a:ext cx="5340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放置物体</a:t>
            </a:r>
          </a:p>
        </p:txBody>
      </p:sp>
      <p:pic>
        <p:nvPicPr>
          <p:cNvPr id="19" name="Picture 18" descr="t4_s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81" y="3931920"/>
            <a:ext cx="2092076" cy="135331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20" name="Rectangle 19"/>
          <p:cNvSpPr/>
          <p:nvPr/>
        </p:nvSpPr>
        <p:spPr>
          <a:xfrm>
            <a:off x="6217920" y="5285231"/>
            <a:ext cx="54864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5326379"/>
            <a:ext cx="5340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垂直抬升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15000"/>
            <a:ext cx="11201400" cy="5029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824728"/>
            <a:ext cx="59436" cy="28346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83387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2B4F"/>
                </a:solidFill>
                <a:latin typeface="微软雅黑"/>
                <a:ea typeface="微软雅黑"/>
              </a:rPr>
              <a:t>换臂规则（单臂版）：默认 Arm1 抓取，**仅当某臂规划失败时**才换另一只手臂尝试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05 空中传递版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handover 版本：双臂空中交接（了解）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201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start_grasp_plane_handover.py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与单臂版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共用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同一套「桌面检测 → 接近 → 几何顶抓 → 抬升 → 放置」流程，新增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形状判定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与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空中传递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环节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B4F"/>
                </a:solidFill>
                <a:latin typeface="微软雅黑"/>
                <a:ea typeface="微软雅黑"/>
              </a:rPr>
              <a:t>形状判定（顶抓时额外测量短边 3D 长度）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长短边比 &lt; 1.5 且两边均 &lt; 5cm → 类球形物体
否则 → 类长方体物体
（供传递策略选择接近方式）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2697480" cy="1600200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793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2C14E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Arm1 携带物体
移动到传递位姿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4160520"/>
            <a:ext cx="2697480" cy="1600200"/>
          </a:xfrm>
          <a:prstGeom prst="roundRect">
            <a:avLst>
              <a:gd name="adj" fmla="val 7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42793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2C14E"/>
                </a:solidFill>
                <a:latin typeface="微软雅黑"/>
                <a:ea typeface="微软雅黑"/>
              </a:rP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Arm2 张开夹爪，到
预接近点（长方体 x+20cm / 小球 x+10cm）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160520"/>
            <a:ext cx="2697480" cy="1600200"/>
          </a:xfrm>
          <a:prstGeom prst="roundRect">
            <a:avLst>
              <a:gd name="adj" fmla="val 7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793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2C14E"/>
                </a:solidFill>
                <a:latin typeface="微软雅黑"/>
                <a:ea typeface="微软雅黑"/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Arm2 接近（长方体 PTP /
小球 LIN），闭爪；1s 后 Arm1 张爪完成交接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16568" y="4160520"/>
            <a:ext cx="2697480" cy="1600200"/>
          </a:xfrm>
          <a:prstGeom prst="roundRect">
            <a:avLst>
              <a:gd name="adj" fmla="val 7000"/>
            </a:avLst>
          </a:prstGeom>
          <a:solidFill>
            <a:srgbClr val="8A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42793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2C14E"/>
                </a:solidFill>
                <a:latin typeface="微软雅黑"/>
                <a:ea typeface="微软雅黑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Arm1 退回走到
自己的放置位让位；pick_arm 切换 Arm2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2B4F"/>
                </a:solidFill>
                <a:latin typeface="微软雅黑"/>
                <a:ea typeface="微软雅黑"/>
              </a:rPr>
              <a:t>传递位姿为固定示教值 —— 移动桌面/机器人后需重新示教；每轮 pick_arm 自动轮换（单臂版仅失败才换）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06 调试与排查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常见问题与排查方法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任务四 · 废料抓取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201399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4442"/>
                <a:gridCol w="8446957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排查方向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桌面 / 物体检测失败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桌面须白色、光照充足；更换提示词（</a:t>
                      </a:r>
                      <a:r>
                        <a:rPr sz="110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_DESK_PROMPT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/ </a:t>
                      </a:r>
                      <a:r>
                        <a:rPr sz="110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_GRASP_PROMPT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抓取方向偏差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物体过短（长轴 XY 投影 &lt; 1cm）方向不可靠，程序自动重试；仍偏 → 重新标定手上相机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手腕大角度翻转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应被 </a:t>
                      </a:r>
                      <a:r>
                        <a:rPr sz="110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_flip_j6_if_needed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抑制；若出现，检查 J6 是否接近 ±360° 限位（手动回 Home）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空中传递掉落（handover）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物体需刚性、可双面夹持；移动桌面/机器人后重新示教传递位姿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相机掉线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不经过拓展坞；不同 USB 根集线器；≥ 10Gbps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709160"/>
            <a:ext cx="11201400" cy="13716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4818888"/>
            <a:ext cx="59436" cy="115214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2803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课堂提问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184648"/>
            <a:ext cx="108356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为什么优先抓最高物体？minAreaRect 比检测框好在哪里？“连续 3 轮无物体”作为退出条件有什么用意？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45720"/>
            <a:ext cx="3108960" cy="310896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868680"/>
            <a:ext cx="1463040" cy="146304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71632" y="1536192"/>
            <a:ext cx="128016" cy="128016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868680"/>
            <a:ext cx="73152" cy="73152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371600"/>
            <a:ext cx="45720" cy="45720"/>
          </a:xfrm>
          <a:prstGeom prst="ellipse">
            <a:avLst/>
          </a:prstGeom>
          <a:solidFill>
            <a:srgbClr val="2A4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103120"/>
            <a:ext cx="121916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92927" y="3456432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373075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BDD3EE"/>
                </a:solidFill>
                <a:latin typeface="微软雅黑"/>
                <a:ea typeface="微软雅黑"/>
              </a:rPr>
              <a:t>Xtrainer 双臂机器人实训 · 任务四 废料抓取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99632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