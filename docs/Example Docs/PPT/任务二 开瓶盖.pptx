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步骤二：向下5cm的偏移来源——深度相机定位到的是瓶子顶部。步骤三：Pilz LIN 保证接近路径为直线，避免碰倒瓶子。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旋盖方向：俯视下负 J2_6 为逆时针（实机验证）。分圈旋开原因：J6 行程有限，且回程会反向拧紧，故每圈复位。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269480" y="1051560"/>
            <a:ext cx="4754880" cy="4754880"/>
          </a:xfrm>
          <a:prstGeom prst="ellipse">
            <a:avLst/>
          </a:prstGeom>
          <a:noFill/>
          <a:ln w="19050">
            <a:solidFill>
              <a:srgbClr val="1B3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18120" y="1600200"/>
            <a:ext cx="3657600" cy="3657600"/>
          </a:xfrm>
          <a:prstGeom prst="ellipse">
            <a:avLst/>
          </a:prstGeom>
          <a:noFill/>
          <a:ln w="19050">
            <a:solidFill>
              <a:srgbClr val="2240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66760" y="2148840"/>
            <a:ext cx="2560320" cy="2560320"/>
          </a:xfrm>
          <a:prstGeom prst="ellipse">
            <a:avLst/>
          </a:prstGeom>
          <a:noFill/>
          <a:ln w="19050">
            <a:solidFill>
              <a:srgbClr val="2A4C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53928" y="3355848"/>
            <a:ext cx="146304" cy="146304"/>
          </a:xfrm>
          <a:prstGeom prst="ellipse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26680" y="5029200"/>
            <a:ext cx="91440" cy="91440"/>
          </a:xfrm>
          <a:prstGeom prst="ellipse">
            <a:avLst/>
          </a:prstGeom>
          <a:solidFill>
            <a:srgbClr val="3A5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515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C14E"/>
                </a:solidFill>
                <a:latin typeface="微软雅黑"/>
                <a:ea typeface="微软雅黑"/>
              </a:rPr>
              <a:t>Xtrainer 双臂机器人实训 · 视觉引导操作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00200"/>
            <a:ext cx="5486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任务二  开瓶盖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310128"/>
            <a:ext cx="1005840" cy="50292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61188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BDD3EE"/>
                </a:solidFill>
                <a:latin typeface="微软雅黑"/>
                <a:ea typeface="微软雅黑"/>
              </a:rPr>
              <a:t>视觉抓取流程四环节的完整实践：检测分割 → 空间定位 → 运动规划 → 夹爪控制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4340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F2C14E"/>
                </a:solidFill>
                <a:latin typeface="微软雅黑"/>
                <a:ea typeface="微软雅黑"/>
              </a:rPr>
              <a:t>▸ </a:t>
            </a:r>
            <a:r>
              <a:rPr sz="1350" b="0" i="0">
                <a:solidFill>
                  <a:srgbClr val="D5E2F2"/>
                </a:solidFill>
                <a:latin typeface="微软雅黑"/>
                <a:ea typeface="微软雅黑"/>
              </a:rPr>
              <a:t>GroundingDINO + SAM2：开集检测与精确分割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F2C14E"/>
                </a:solidFill>
                <a:latin typeface="微软雅黑"/>
                <a:ea typeface="微软雅黑"/>
              </a:rPr>
              <a:t>▸ </a:t>
            </a:r>
            <a:r>
              <a:rPr sz="1350" b="0" i="0">
                <a:solidFill>
                  <a:srgbClr val="D5E2F2"/>
                </a:solidFill>
                <a:latin typeface="微软雅黑"/>
                <a:ea typeface="微软雅黑"/>
              </a:rPr>
              <a:t>深度反投影 + TF 变换：像素坐标 → base_link 3D 坐标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F2C14E"/>
                </a:solidFill>
                <a:latin typeface="微软雅黑"/>
                <a:ea typeface="微软雅黑"/>
              </a:rPr>
              <a:t>▸ </a:t>
            </a:r>
            <a:r>
              <a:rPr sz="1350" b="0" i="0">
                <a:solidFill>
                  <a:srgbClr val="D5E2F2"/>
                </a:solidFill>
                <a:latin typeface="微软雅黑"/>
                <a:ea typeface="微软雅黑"/>
              </a:rPr>
              <a:t>MoveItPy 三种规划器（OMPL / Pilz PTP / Pilz LIN）的选择依据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F2C14E"/>
                </a:solidFill>
                <a:latin typeface="微软雅黑"/>
                <a:ea typeface="微软雅黑"/>
              </a:rPr>
              <a:t>▸ </a:t>
            </a:r>
            <a:r>
              <a:rPr sz="1350" b="0" i="0">
                <a:solidFill>
                  <a:srgbClr val="D5E2F2"/>
                </a:solidFill>
                <a:latin typeface="微软雅黑"/>
                <a:ea typeface="微软雅黑"/>
              </a:rPr>
              <a:t>双臂协同：左臂扶瓶、右臂旋盖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17220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8C8"/>
                </a:solidFill>
                <a:latin typeface="微软雅黑"/>
                <a:ea typeface="微软雅黑"/>
              </a:rPr>
              <a:t>深圳市越疆科技股份有限公司 · 实训教学课件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本讲内容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任务二 · 开瓶盖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92808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B8CCE4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42B4F"/>
                </a:solidFill>
                <a:latin typeface="微软雅黑"/>
                <a:ea typeface="微软雅黑"/>
              </a:rPr>
              <a:t>任务概览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9864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任务流程 · 双臂分工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916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892808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B8CCE4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4688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42B4F"/>
                </a:solidFill>
                <a:latin typeface="微软雅黑"/>
                <a:ea typeface="微软雅黑"/>
              </a:rPr>
              <a:t>视觉抓取流程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89864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四大环节 · 逐环节原理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7304" y="16916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892808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B8CCE4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4688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42B4F"/>
                </a:solidFill>
                <a:latin typeface="微软雅黑"/>
                <a:ea typeface="微软雅黑"/>
              </a:rPr>
              <a:t>环节①：检测与分割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89864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GroundingDINO · SAM2 · DinoWrapper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7947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995928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B8CCE4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42B4F"/>
                </a:solidFill>
                <a:latin typeface="微软雅黑"/>
                <a:ea typeface="微软雅黑"/>
              </a:rPr>
              <a:t>环节②：空间定位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0176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对齐深度图 · 内参反投影 · TF 变换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5112" y="37947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3995928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B8CCE4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45720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42B4F"/>
                </a:solidFill>
                <a:latin typeface="微软雅黑"/>
                <a:ea typeface="微软雅黑"/>
              </a:rPr>
              <a:t>环节③：运动规划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500176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MoveItPy · 三种规划器选择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47304" y="37947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5904" y="3995928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B8CCE4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45720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42B4F"/>
                </a:solidFill>
                <a:latin typeface="微软雅黑"/>
                <a:ea typeface="微软雅黑"/>
              </a:rPr>
              <a:t>环节④：夹爪与全流程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500176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GripperController · 六步走读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01 任务概览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开瓶盖任务：视觉引导抓取 + 双臂协同操作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任务二 · 开瓶盖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8" name="Pentagon 7"/>
          <p:cNvSpPr/>
          <p:nvPr/>
        </p:nvSpPr>
        <p:spPr>
          <a:xfrm>
            <a:off x="502920" y="1481328"/>
            <a:ext cx="1805939" cy="731520"/>
          </a:xfrm>
          <a:prstGeom prst="homePlat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检测瓶身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67712"/>
            <a:ext cx="18973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</a:rPr>
              <a:t>顶相机+bottle</a:t>
            </a:r>
          </a:p>
        </p:txBody>
      </p:sp>
      <p:sp>
        <p:nvSpPr>
          <p:cNvPr id="10" name="Chevron 9"/>
          <p:cNvSpPr/>
          <p:nvPr/>
        </p:nvSpPr>
        <p:spPr>
          <a:xfrm>
            <a:off x="2382011" y="1481328"/>
            <a:ext cx="1805939" cy="73152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左臂夹瓶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6291" y="2267712"/>
            <a:ext cx="18973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</a:rPr>
              <a:t>左相机+LIN</a:t>
            </a:r>
          </a:p>
        </p:txBody>
      </p:sp>
      <p:sp>
        <p:nvSpPr>
          <p:cNvPr id="12" name="Chevron 11"/>
          <p:cNvSpPr/>
          <p:nvPr/>
        </p:nvSpPr>
        <p:spPr>
          <a:xfrm>
            <a:off x="4261103" y="1481328"/>
            <a:ext cx="1805939" cy="73152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右臂定位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5383" y="2267712"/>
            <a:ext cx="18973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</a:rPr>
              <a:t>右相机+white cap</a:t>
            </a:r>
          </a:p>
        </p:txBody>
      </p:sp>
      <p:sp>
        <p:nvSpPr>
          <p:cNvPr id="14" name="Chevron 13"/>
          <p:cNvSpPr/>
          <p:nvPr/>
        </p:nvSpPr>
        <p:spPr>
          <a:xfrm>
            <a:off x="6140195" y="1481328"/>
            <a:ext cx="1805939" cy="73152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抓取瓶盖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4475" y="2267712"/>
            <a:ext cx="18973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</a:rPr>
              <a:t>LIN 至盖上方5cm</a:t>
            </a:r>
          </a:p>
        </p:txBody>
      </p:sp>
      <p:sp>
        <p:nvSpPr>
          <p:cNvPr id="16" name="Chevron 15"/>
          <p:cNvSpPr/>
          <p:nvPr/>
        </p:nvSpPr>
        <p:spPr>
          <a:xfrm>
            <a:off x="8019288" y="1481328"/>
            <a:ext cx="1805939" cy="73152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旋开 ×4圈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7" y="2267712"/>
            <a:ext cx="18973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</a:rPr>
              <a:t>J6 逐圈旋转</a:t>
            </a:r>
          </a:p>
        </p:txBody>
      </p:sp>
      <p:sp>
        <p:nvSpPr>
          <p:cNvPr id="18" name="Chevron 17"/>
          <p:cNvSpPr/>
          <p:nvPr/>
        </p:nvSpPr>
        <p:spPr>
          <a:xfrm>
            <a:off x="9898380" y="1481328"/>
            <a:ext cx="1805939" cy="73152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抬起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2659" y="2267712"/>
            <a:ext cx="18973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</a:rPr>
              <a:t>保持夹持抬升5cm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743200"/>
            <a:ext cx="5486400" cy="160020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2852928"/>
            <a:ext cx="59436" cy="138074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862072"/>
            <a:ext cx="5193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左臂 Arm1 —— “扶瓶”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3218688"/>
            <a:ext cx="512064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顶相机粗定位 → 左手相机精定位 → Pilz LIN 直线接近 → 闭合夹爪夹住瓶身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743200"/>
            <a:ext cx="5486400" cy="160020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2852928"/>
            <a:ext cx="59436" cy="1380744"/>
          </a:xfrm>
          <a:prstGeom prst="roundRect">
            <a:avLst>
              <a:gd name="adj" fmla="val 50000"/>
            </a:avLst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862072"/>
            <a:ext cx="5193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右臂 Arm2 —— “开盖”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3218688"/>
            <a:ext cx="5120640" cy="10332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复用左手定位结果移到上方 → 右手相机定位瓶盖 → LIN 下降抓盖 → J6 旋转 4 圈旋开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572000"/>
            <a:ext cx="11201400" cy="1508760"/>
          </a:xfrm>
          <a:prstGeom prst="roundRect">
            <a:avLst>
              <a:gd name="adj" fmla="val 6000"/>
            </a:avLst>
          </a:prstGeom>
          <a:solidFill>
            <a:srgbClr val="D9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736592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42B4F"/>
                </a:solidFill>
                <a:latin typeface="微软雅黑"/>
                <a:ea typeface="微软雅黑"/>
              </a:rPr>
              <a:t>为什么是典型的“视觉引导抓取”任务？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074920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机械臂事先不知道瓶子 / 瓶盖在哪 —— 必须“看”到目标，换算到机器人坐标系，再规划运动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后续任务三（插吸管）、任务四（废料抓取）复用的都是这一套流程，只是目标与策略不同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02 视觉抓取流程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视觉抓取流程：四个环节环环相扣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任务二 · 开瓶盖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2697480" cy="82296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E75B6"/>
                </a:solidFill>
                <a:latin typeface="微软雅黑"/>
                <a:ea typeface="微软雅黑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860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42B4F"/>
                </a:solidFill>
                <a:latin typeface="微软雅黑"/>
                <a:ea typeface="微软雅黑"/>
              </a:rPr>
              <a:t>目标检测与分割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97480"/>
            <a:ext cx="23591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GroundingDINO 按文本提示词输出边界框；SAM2 以框为提示输出像素掩码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18688" y="2606040"/>
            <a:ext cx="146304" cy="274320"/>
          </a:xfrm>
          <a:prstGeom prst="rightArrow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74136" y="155448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74136" y="1554480"/>
            <a:ext cx="2697480" cy="82296"/>
          </a:xfrm>
          <a:prstGeom prst="roundRect">
            <a:avLst>
              <a:gd name="adj" fmla="val 50000"/>
            </a:avLst>
          </a:prstGeom>
          <a:solidFill>
            <a:srgbClr val="2F8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7016" y="17830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F8E5B"/>
                </a:solidFill>
                <a:latin typeface="微软雅黑"/>
                <a:ea typeface="微软雅黑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22860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42B4F"/>
                </a:solidFill>
                <a:latin typeface="微软雅黑"/>
                <a:ea typeface="微软雅黑"/>
              </a:rPr>
              <a:t>空间定位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6" y="2697480"/>
            <a:ext cx="23591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对齐深度图取深度值，内参反投影成相机系 3D 点，TF 变换到 base_link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89904" y="2606040"/>
            <a:ext cx="146304" cy="274320"/>
          </a:xfrm>
          <a:prstGeom prst="rightArrow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45352" y="155448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45352" y="1554480"/>
            <a:ext cx="2697480" cy="82296"/>
          </a:xfrm>
          <a:prstGeom prst="roundRect">
            <a:avLst>
              <a:gd name="adj" fmla="val 50000"/>
            </a:avLst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17830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E3762B"/>
                </a:solidFill>
                <a:latin typeface="微软雅黑"/>
                <a:ea typeface="微软雅黑"/>
              </a:rPr>
              <a:t>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22860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42B4F"/>
                </a:solidFill>
                <a:latin typeface="微软雅黑"/>
                <a:ea typeface="微软雅黑"/>
              </a:rPr>
              <a:t>运动规划与执行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2697480"/>
            <a:ext cx="23591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MoveItPy 构造末端位姿目标，OMPL / Pilz PTP / Pilz LIN 规划并执行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961120" y="2606040"/>
            <a:ext cx="146304" cy="274320"/>
          </a:xfrm>
          <a:prstGeom prst="rightArrow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16568" y="155448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16568" y="1554480"/>
            <a:ext cx="2697480" cy="82296"/>
          </a:xfrm>
          <a:prstGeom prst="roundRect">
            <a:avLst>
              <a:gd name="adj" fmla="val 50000"/>
            </a:avLst>
          </a:prstGeom>
          <a:solidFill>
            <a:srgbClr val="8A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17830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8A6DB5"/>
                </a:solidFill>
                <a:latin typeface="微软雅黑"/>
                <a:ea typeface="微软雅黑"/>
              </a:rPr>
              <a:t>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9448" y="22860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42B4F"/>
                </a:solidFill>
                <a:latin typeface="微软雅黑"/>
                <a:ea typeface="微软雅黑"/>
              </a:rPr>
              <a:t>夹爪控制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9448" y="2697480"/>
            <a:ext cx="23591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到位后闭合夹爪，按力矩上限夹持，read_status() 确认状态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251960"/>
            <a:ext cx="11201400" cy="1783080"/>
          </a:xfrm>
          <a:prstGeom prst="roundRect">
            <a:avLst>
              <a:gd name="adj" fmla="val 6000"/>
            </a:avLst>
          </a:prstGeom>
          <a:solidFill>
            <a:srgbClr val="D9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43484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42B4F"/>
                </a:solidFill>
                <a:latin typeface="微软雅黑"/>
                <a:ea typeface="微软雅黑"/>
              </a:rPr>
              <a:t>任一环节的误差都会导致任务失败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800600"/>
            <a:ext cx="106984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视觉检测不准：光照不足、提示词不当 → 找不到目标或框不准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深度或标定误差 → 定位偏移，抓空或碰倒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规划器选择不当（该直线插补却用自由规划）→ 路径扫过障碍；夹爪力不足 → 打滑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02 视觉抓取流程 · 环节①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GroundingDINO + SAM2：开集检测 + 精确分割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任务二 · 开瓶盖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5486400" cy="164592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618488"/>
            <a:ext cx="59436" cy="142646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27631"/>
            <a:ext cx="5193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GroundingDINO —— 找到目标在哪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984248"/>
            <a:ext cx="512064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开集（open-set）检测器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：输入图像 + 文本提示词（如 </a:t>
            </a:r>
            <a:r>
              <a:rPr sz="1150" b="0" i="0">
                <a:solidFill>
                  <a:srgbClr val="9A6B2F"/>
                </a:solidFill>
                <a:latin typeface="Consolas"/>
                <a:ea typeface="Consolas"/>
              </a:rPr>
              <a:t>bottle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）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输出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边界框 box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，无需预先训练固定类别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91840"/>
            <a:ext cx="5486400" cy="164592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3401568"/>
            <a:ext cx="59436" cy="1426464"/>
          </a:xfrm>
          <a:prstGeom prst="roundRect">
            <a:avLst>
              <a:gd name="adj" fmla="val 50000"/>
            </a:avLst>
          </a:prstGeom>
          <a:solidFill>
            <a:srgbClr val="2F8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410712"/>
            <a:ext cx="5193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SAM2 —— 精确到像素的轮廓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767328"/>
            <a:ext cx="512064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Segment Anything 2：以检测框为提示（prompt）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输出目标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像素掩码 mask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，把目标从背景完整分离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074920"/>
            <a:ext cx="5486400" cy="1143000"/>
          </a:xfrm>
          <a:prstGeom prst="roundRect">
            <a:avLst>
              <a:gd name="adj" fmla="val 6000"/>
            </a:avLst>
          </a:prstGeom>
          <a:solidFill>
            <a:srgbClr val="2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184648"/>
            <a:ext cx="5157216" cy="941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100" b="0" i="0">
                <a:solidFill>
                  <a:srgbClr val="8A93A3"/>
                </a:solidFill>
                <a:latin typeface="Consolas"/>
                <a:ea typeface="Consolas"/>
              </a:rPr>
              <a:t># DinoWrapper 一次调用完成检测+分割</a:t>
            </a:r>
          </a:p>
          <a:p>
            <a:pPr>
              <a:lnSpc>
                <a:spcPct val="112000"/>
              </a:lnSpc>
            </a:pPr>
            <a:r>
              <a:rPr sz="1100" b="0" i="0">
                <a:solidFill>
                  <a:srgbClr val="E8E8E8"/>
                </a:solidFill>
                <a:latin typeface="Consolas"/>
                <a:ea typeface="Consolas"/>
              </a:rPr>
              <a:t>boxes, masks = dino.detect(image, prompt)</a:t>
            </a:r>
          </a:p>
        </p:txBody>
      </p:sp>
      <p:pic>
        <p:nvPicPr>
          <p:cNvPr id="18" name="Picture 17" descr="t2_fl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103" y="1508760"/>
            <a:ext cx="4515193" cy="2816352"/>
          </a:xfrm>
          <a:prstGeom prst="rect">
            <a:avLst/>
          </a:prstGeom>
          <a:ln w="12700">
            <a:solidFill>
              <a:srgbClr val="C9D8EA"/>
            </a:solidFill>
          </a:ln>
          <a:effectLst/>
        </p:spPr>
      </p:pic>
      <p:sp>
        <p:nvSpPr>
          <p:cNvPr id="19" name="Rectangle 18"/>
          <p:cNvSpPr/>
          <p:nvPr/>
        </p:nvSpPr>
        <p:spPr>
          <a:xfrm>
            <a:off x="6355080" y="4325112"/>
            <a:ext cx="5349240" cy="292608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4366259"/>
            <a:ext cx="52029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GroundingDINO 检测 + SAM2 分掩码效果（取框中心 (u,v) 为图像坐标）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800600"/>
            <a:ext cx="5349240" cy="141732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55080" y="4910328"/>
            <a:ext cx="59436" cy="1197864"/>
          </a:xfrm>
          <a:prstGeom prst="roundRect">
            <a:avLst>
              <a:gd name="adj" fmla="val 50000"/>
            </a:avLst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919472"/>
            <a:ext cx="50566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提示词工程（本任务依次用到）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5276088"/>
            <a:ext cx="4983479" cy="8503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6B2F"/>
                </a:solidFill>
                <a:latin typeface="Consolas"/>
                <a:ea typeface="Consolas"/>
              </a:rPr>
              <a:t>bottle</a:t>
            </a: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（顶相机找瓶）→ </a:t>
            </a:r>
            <a:r>
              <a:rPr sz="1100" b="0" i="0">
                <a:solidFill>
                  <a:srgbClr val="9A6B2F"/>
                </a:solidFill>
                <a:latin typeface="Consolas"/>
                <a:ea typeface="Consolas"/>
              </a:rPr>
              <a:t>biggest cylinder</a:t>
            </a: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（左相机近距特写）→ </a:t>
            </a:r>
            <a:r>
              <a:rPr sz="1100" b="0" i="0">
                <a:solidFill>
                  <a:srgbClr val="9A6B2F"/>
                </a:solidFill>
                <a:latin typeface="Consolas"/>
                <a:ea typeface="Consolas"/>
              </a:rPr>
              <a:t>white cap</a:t>
            </a: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（右相机找盖）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02 视觉抓取流程 · 环节②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空间定位：像素坐标 → base_link 3D 坐标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任务二 · 开瓶盖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图像坐标只是像素，驱动机器人必须得到机器人坐标系下的三维坐标 —— pixel_to_base_link(camera, u, v) 三步完成：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6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12140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E75B6"/>
                </a:solidFill>
                <a:latin typeface="微软雅黑"/>
                <a:ea typeface="微软雅黑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3774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42B4F"/>
                </a:solidFill>
                <a:latin typeface="微软雅黑"/>
                <a:ea typeface="微软雅黑"/>
              </a:rPr>
              <a:t>取深度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8892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从</a:t>
            </a:r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对齐深度图</a:t>
            </a: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取像素 (u,v) 的深度值 depth（mm→m）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话题：aligned_depth_to_color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42232" y="2788920"/>
            <a:ext cx="164592" cy="27432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5112" y="196596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212140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E75B6"/>
                </a:solidFill>
                <a:latin typeface="微软雅黑"/>
                <a:ea typeface="微软雅黑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23774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42B4F"/>
                </a:solidFill>
                <a:latin typeface="微软雅黑"/>
                <a:ea typeface="微软雅黑"/>
              </a:rPr>
              <a:t>反投影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278892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用</a:t>
            </a:r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相机内参</a:t>
            </a: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反投影到相机光学系：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x=(u−cx)/fx·z，y=(v−cy)/fy·z，z=depth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964423" y="2788920"/>
            <a:ext cx="164592" cy="27432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47304" y="1965960"/>
            <a:ext cx="3611880" cy="192024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212140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E75B6"/>
                </a:solidFill>
                <a:latin typeface="微软雅黑"/>
                <a:ea typeface="微软雅黑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23774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42B4F"/>
                </a:solidFill>
                <a:latin typeface="微软雅黑"/>
                <a:ea typeface="微软雅黑"/>
              </a:rPr>
              <a:t>TF 变换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78892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tf2 把点从相机光学系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（…_optical_frame）变换到 base_link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160520"/>
            <a:ext cx="6126480" cy="1051560"/>
          </a:xfrm>
          <a:prstGeom prst="roundRect">
            <a:avLst>
              <a:gd name="adj" fmla="val 7000"/>
            </a:avLst>
          </a:prstGeom>
          <a:solidFill>
            <a:srgbClr val="D9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270248"/>
            <a:ext cx="5669280" cy="8321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42B4F"/>
                </a:solidFill>
                <a:latin typeface="Consolas"/>
                <a:ea typeface="Consolas"/>
              </a:rPr>
              <a:t>x = (u − cx) / fx × depth</a:t>
            </a:r>
          </a:p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42B4F"/>
                </a:solidFill>
                <a:latin typeface="Consolas"/>
                <a:ea typeface="Consolas"/>
              </a:rPr>
              <a:t>y = (v − cy) / fy × depth    z = depth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4160520"/>
            <a:ext cx="4846320" cy="205740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0" y="4270248"/>
            <a:ext cx="59436" cy="1837943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4279392"/>
            <a:ext cx="45537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两个依赖缺一不可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636008"/>
            <a:ext cx="4480559" cy="1490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</a:rPr>
              <a:t>相机内参</a:t>
            </a: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（camera_info）：反投影的尺度依据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</a:rPr>
              <a:t>手眼标定结果</a:t>
            </a: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（TF）：相机系 ↔ 机器人系的关联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任一环节错误 → 定位偏移（排查从任务一的标定查起）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394960"/>
            <a:ext cx="6126480" cy="82296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2920" y="5504688"/>
            <a:ext cx="59436" cy="603504"/>
          </a:xfrm>
          <a:prstGeom prst="roundRect">
            <a:avLst>
              <a:gd name="adj" fmla="val 50000"/>
            </a:avLst>
          </a:prstGeom>
          <a:solidFill>
            <a:srgbClr val="2F8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513832"/>
            <a:ext cx="583387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为什么用对齐深度图？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" y="5870448"/>
            <a:ext cx="5760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深度与彩色图逐像素对齐、分辨率一致 → SAM 掩码可 </a:t>
            </a:r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1:1</a:t>
            </a: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 直接索引深度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02 视觉抓取流程 · 环节③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MoveItPy 与三种规划器的选择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任务二 · 开瓶盖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MoveItPy 是进程内规划库；RobotMover 封装 plan_pose() / plan_joints() / execute()；目标可以是关节角（关节空间）或末端位姿（笛卡尔空间 + IK）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920240"/>
          <a:ext cx="11201398" cy="22677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3502"/>
                <a:gridCol w="1366024"/>
                <a:gridCol w="3096321"/>
                <a:gridCol w="4735551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规划器</a:t>
                      </a:r>
                    </a:p>
                  </a:txBody>
                  <a:tcPr marL="64008" marR="64008" marT="27432" marB="27432" anchor="ctr"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规划空间</a:t>
                      </a:r>
                    </a:p>
                  </a:txBody>
                  <a:tcPr marL="64008" marR="64008" marT="27432" marB="27432" anchor="ctr"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特点</a:t>
                      </a:r>
                    </a:p>
                  </a:txBody>
                  <a:tcPr marL="64008" marR="64008" marT="27432" marB="27432" anchor="ctr"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适用场景（本任务）</a:t>
                      </a:r>
                    </a:p>
                  </a:txBody>
                  <a:tcPr marL="64008" marR="64008" marT="27432" marB="27432" anchor="ctr">
                    <a:solidFill>
                      <a:srgbClr val="142B4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E75B6"/>
                          </a:solidFill>
                          <a:latin typeface="微软雅黑"/>
                          <a:ea typeface="微软雅黑"/>
                        </a:rPr>
                        <a:t>OMPL</a:t>
                      </a:r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（RRTConnect）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关节空间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随机采样搜索，灵活避障，路径不保证直线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默认；大范围移动（移动到瓶子左侧预抓取位 / 右臂移到瓶上方）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E75B6"/>
                          </a:solidFill>
                          <a:latin typeface="微软雅黑"/>
                          <a:ea typeface="微软雅黑"/>
                        </a:rPr>
                        <a:t>Pilz PTP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关节空间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点对点运动，快速，无直线约束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只关心到达、不关心路径形状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E75B6"/>
                          </a:solidFill>
                          <a:latin typeface="微软雅黑"/>
                          <a:ea typeface="微软雅黑"/>
                        </a:rPr>
                        <a:t>Pilz LIN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笛卡尔空间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直线插补，末端沿直线运动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精确直线接近与垂直下降（夹瓶身、下降抓盖），失败可回退 PTP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434840"/>
            <a:ext cx="11201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规划成功后轨迹自动发布到 RViz（</a:t>
            </a:r>
            <a:r>
              <a:rPr sz="1200" b="0" i="0">
                <a:solidFill>
                  <a:srgbClr val="9A6B2F"/>
                </a:solidFill>
                <a:latin typeface="Consolas"/>
                <a:ea typeface="Consolas"/>
              </a:rPr>
              <a:t>/display_planned_path</a:t>
            </a: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）可视化检查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9A6B2F"/>
                </a:solidFill>
                <a:latin typeface="Consolas"/>
                <a:ea typeface="Consolas"/>
              </a:rPr>
              <a:t>execute()</a:t>
            </a: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 经 </a:t>
            </a:r>
            <a:r>
              <a:rPr sz="1200" b="0" i="0">
                <a:solidFill>
                  <a:srgbClr val="9A6B2F"/>
                </a:solidFill>
                <a:latin typeface="Consolas"/>
                <a:ea typeface="Consolas"/>
              </a:rPr>
              <a:t>/ArmX_controller/follow_joint_trajectory</a:t>
            </a: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 下发 → xtrainer_controller → </a:t>
            </a: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ServoJ 逐点</a:t>
            </a: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驱动机械臂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口诀：</a:t>
            </a: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大范围用 OMPL，到位即可用 PTP，要走直线用 LIN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02 视觉抓取流程 · 环节④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夹爪控制：GripperController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任务二 · 开瓶盖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5852160" cy="2377440"/>
          </a:xfrm>
          <a:prstGeom prst="roundRect">
            <a:avLst>
              <a:gd name="adj" fmla="val 6000"/>
            </a:avLst>
          </a:prstGeom>
          <a:solidFill>
            <a:srgbClr val="2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91056"/>
            <a:ext cx="5577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6B7688"/>
                </a:solidFill>
                <a:latin typeface="Consolas"/>
                <a:ea typeface="Consolas"/>
              </a:rPr>
              <a:t>RobotMover 封装接口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56231"/>
            <a:ext cx="5522976" cy="19385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150" b="0" i="0">
                <a:solidFill>
                  <a:srgbClr val="E8E8E8"/>
                </a:solidFill>
                <a:latin typeface="Consolas"/>
                <a:ea typeface="Consolas"/>
              </a:rPr>
              <a:t>gripper.open('left')   /   gripper.close('left')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E8E8E8"/>
                </a:solidFill>
                <a:latin typeface="Consolas"/>
                <a:ea typeface="Consolas"/>
              </a:rPr>
              <a:t>gripper.set_torque('right', limit)   # 夹持力上限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E8E8E8"/>
                </a:solidFill>
                <a:latin typeface="Consolas"/>
                <a:ea typeface="Consolas"/>
              </a:rPr>
              <a:t>gripper.read_status(side)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8A93A3"/>
                </a:solidFill>
                <a:latin typeface="Consolas"/>
                <a:ea typeface="Consolas"/>
              </a:rPr>
              <a:t># → OPENED / CLOSED / MOVING / ERROR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8A93A3"/>
                </a:solidFill>
                <a:latin typeface="Consolas"/>
                <a:ea typeface="Consolas"/>
              </a:rPr>
              <a:t># 话题：/gripper/left|right/command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069080"/>
            <a:ext cx="5852160" cy="201168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4178808"/>
            <a:ext cx="59436" cy="1792224"/>
          </a:xfrm>
          <a:prstGeom prst="roundRect">
            <a:avLst>
              <a:gd name="adj" fmla="val 50000"/>
            </a:avLst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187952"/>
            <a:ext cx="55595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夹爪力从哪调？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4544568"/>
            <a:ext cx="5486400" cy="14447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9A6B2F"/>
                </a:solidFill>
                <a:latin typeface="Consolas"/>
                <a:ea typeface="Consolas"/>
              </a:rPr>
              <a:t>xtrainer_control/launch/start.launch.py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 中的 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torque_limit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 参数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夹持力不足 → 打滑（旋盖失败的常见原因）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1508760"/>
            <a:ext cx="5166360" cy="457200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37960" y="1618488"/>
            <a:ext cx="59436" cy="435254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627631"/>
            <a:ext cx="48737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工程习惯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1984248"/>
            <a:ext cx="4800600" cy="4005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闭合后用 </a:t>
            </a:r>
            <a:r>
              <a:rPr sz="1200" b="0" i="0">
                <a:solidFill>
                  <a:srgbClr val="9A6B2F"/>
                </a:solidFill>
                <a:latin typeface="Consolas"/>
                <a:ea typeface="Consolas"/>
              </a:rPr>
              <a:t>read_status()</a:t>
            </a: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 确认夹持状态，不要“盲夹”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左臂扶瓶、右臂旋盖：两夹爪独立控制，互不干扰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任务失败复原三步：Ctrl+C 终止 → </a:t>
            </a:r>
            <a:r>
              <a:rPr sz="1200" b="0" i="0">
                <a:solidFill>
                  <a:srgbClr val="9A6B2F"/>
                </a:solidFill>
                <a:latin typeface="Consolas"/>
                <a:ea typeface="Consolas"/>
              </a:rPr>
              <a:t>gripper_open.launch.py</a:t>
            </a: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 开爪 → </a:t>
            </a:r>
            <a:r>
              <a:rPr sz="1200" b="0" i="0">
                <a:solidFill>
                  <a:srgbClr val="9A6B2F"/>
                </a:solidFill>
                <a:latin typeface="Consolas"/>
                <a:ea typeface="Consolas"/>
              </a:rPr>
              <a:t>goto_pose.launch.py</a:t>
            </a: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 回位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03 全流程走读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步骤走读（上）：检测瓶身 → 夹住瓶身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任务二 · 开瓶盖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6675120" cy="224028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572768"/>
            <a:ext cx="59436" cy="20208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81912"/>
            <a:ext cx="63825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检测瓶盖并接近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938528"/>
            <a:ext cx="6309359" cy="1673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顶相机 + </a:t>
            </a:r>
            <a:r>
              <a:rPr sz="1150" b="0" i="0">
                <a:solidFill>
                  <a:srgbClr val="9A6B2F"/>
                </a:solidFill>
                <a:latin typeface="Consolas"/>
                <a:ea typeface="Consolas"/>
              </a:rPr>
              <a:t>bottle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 → 框中心 ROI 定位；Arm1 到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瓶左侧 20cm、下方 5cm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（左侧 20cm 为预抓取位；深度定位到瓶顶故再向下 5cm）；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OMPL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591056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E3762B"/>
                </a:solidFill>
                <a:latin typeface="微软雅黑"/>
                <a:ea typeface="微软雅黑"/>
              </a:rPr>
              <a:t>步骤二</a:t>
            </a:r>
          </a:p>
        </p:txBody>
      </p:sp>
      <p:pic>
        <p:nvPicPr>
          <p:cNvPr id="13" name="Picture 12" descr="t2_s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198" y="1463040"/>
            <a:ext cx="3598843" cy="2240280"/>
          </a:xfrm>
          <a:prstGeom prst="rect">
            <a:avLst/>
          </a:prstGeom>
          <a:ln w="12700">
            <a:solidFill>
              <a:srgbClr val="C9D8EA"/>
            </a:solidFill>
          </a:ln>
          <a:effectLst/>
        </p:spPr>
      </p:pic>
      <p:sp>
        <p:nvSpPr>
          <p:cNvPr id="14" name="Rounded Rectangle 13"/>
          <p:cNvSpPr/>
          <p:nvPr/>
        </p:nvSpPr>
        <p:spPr>
          <a:xfrm>
            <a:off x="502920" y="3858768"/>
            <a:ext cx="6675120" cy="224028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3968496"/>
            <a:ext cx="59436" cy="202082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77640"/>
            <a:ext cx="63825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夹住瓶身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334256"/>
            <a:ext cx="6309359" cy="1673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左相机 + </a:t>
            </a:r>
            <a:r>
              <a:rPr sz="1150" b="0" i="0">
                <a:solidFill>
                  <a:srgbClr val="9A6B2F"/>
                </a:solidFill>
                <a:latin typeface="Consolas"/>
                <a:ea typeface="Consolas"/>
              </a:rPr>
              <a:t>biggest cylinder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（近距特写最佳）；深度+TF 定位；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Pilz LIN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 直线接近；左夹爪闭合夹瓶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986784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E3762B"/>
                </a:solidFill>
                <a:latin typeface="微软雅黑"/>
                <a:ea typeface="微软雅黑"/>
              </a:rPr>
              <a:t>步骤三</a:t>
            </a:r>
          </a:p>
        </p:txBody>
      </p:sp>
      <p:pic>
        <p:nvPicPr>
          <p:cNvPr id="19" name="Picture 18" descr="t2_s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650" y="3858768"/>
            <a:ext cx="4013939" cy="2240280"/>
          </a:xfrm>
          <a:prstGeom prst="rect">
            <a:avLst/>
          </a:prstGeom>
          <a:ln w="12700">
            <a:solidFill>
              <a:srgbClr val="C9D8EA"/>
            </a:solidFill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03 全流程走读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步骤走读（中）：移动右手 → 定位瓶盖 → 旋开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任务二 · 开瓶盖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6675120" cy="1389888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572768"/>
            <a:ext cx="59436" cy="1170432"/>
          </a:xfrm>
          <a:prstGeom prst="roundRect">
            <a:avLst>
              <a:gd name="adj" fmla="val 50000"/>
            </a:avLst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81912"/>
            <a:ext cx="63825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B4F"/>
                </a:solidFill>
                <a:latin typeface="微软雅黑"/>
                <a:ea typeface="微软雅黑"/>
              </a:rPr>
              <a:t>移动右手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938528"/>
            <a:ext cx="63093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直接复用</a:t>
            </a:r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左手定位结果</a:t>
            </a: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，Arm2 到左手上方 20cm（垂直姿态）；</a:t>
            </a:r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OMPL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572768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2E75B6"/>
                </a:solidFill>
                <a:latin typeface="微软雅黑"/>
                <a:ea typeface="微软雅黑"/>
              </a:rPr>
              <a:t>步骤四</a:t>
            </a:r>
          </a:p>
        </p:txBody>
      </p:sp>
      <p:pic>
        <p:nvPicPr>
          <p:cNvPr id="13" name="Picture 12" descr="t2_s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4755" y="1463040"/>
            <a:ext cx="2435729" cy="1389888"/>
          </a:xfrm>
          <a:prstGeom prst="rect">
            <a:avLst/>
          </a:prstGeom>
          <a:ln w="12700">
            <a:solidFill>
              <a:srgbClr val="C9D8EA"/>
            </a:solidFill>
          </a:ln>
          <a:effectLst/>
        </p:spPr>
      </p:pic>
      <p:sp>
        <p:nvSpPr>
          <p:cNvPr id="14" name="Rounded Rectangle 13"/>
          <p:cNvSpPr/>
          <p:nvPr/>
        </p:nvSpPr>
        <p:spPr>
          <a:xfrm>
            <a:off x="502920" y="3008376"/>
            <a:ext cx="6675120" cy="1389888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3118104"/>
            <a:ext cx="59436" cy="1170432"/>
          </a:xfrm>
          <a:prstGeom prst="roundRect">
            <a:avLst>
              <a:gd name="adj" fmla="val 50000"/>
            </a:avLst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127248"/>
            <a:ext cx="63825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B4F"/>
                </a:solidFill>
                <a:latin typeface="微软雅黑"/>
                <a:ea typeface="微软雅黑"/>
              </a:rPr>
              <a:t>定位瓶盖并抓取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3483864"/>
            <a:ext cx="63093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右相机 + </a:t>
            </a:r>
            <a:r>
              <a:rPr sz="1050" b="0" i="0">
                <a:solidFill>
                  <a:srgbClr val="9A6B2F"/>
                </a:solidFill>
                <a:latin typeface="Consolas"/>
                <a:ea typeface="Consolas"/>
              </a:rPr>
              <a:t>white cap</a:t>
            </a: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（瓶盖颜色不同需改提示词）；深度+TF 定位；</a:t>
            </a:r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Pilz LIN</a:t>
            </a: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 移动 Arm2 末端到瓶盖上方 5cm 处；闭合右夹爪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3118104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2E75B6"/>
                </a:solidFill>
                <a:latin typeface="微软雅黑"/>
                <a:ea typeface="微软雅黑"/>
              </a:rPr>
              <a:t>步骤五</a:t>
            </a:r>
          </a:p>
        </p:txBody>
      </p:sp>
      <p:pic>
        <p:nvPicPr>
          <p:cNvPr id="19" name="Picture 18" descr="t2_s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1742" y="3008376"/>
            <a:ext cx="2241754" cy="1389888"/>
          </a:xfrm>
          <a:prstGeom prst="rect">
            <a:avLst/>
          </a:prstGeom>
          <a:ln w="12700">
            <a:solidFill>
              <a:srgbClr val="C9D8EA"/>
            </a:solidFill>
          </a:ln>
          <a:effectLst/>
        </p:spPr>
      </p:pic>
      <p:sp>
        <p:nvSpPr>
          <p:cNvPr id="20" name="Rounded Rectangle 19"/>
          <p:cNvSpPr/>
          <p:nvPr/>
        </p:nvSpPr>
        <p:spPr>
          <a:xfrm>
            <a:off x="502920" y="4553712"/>
            <a:ext cx="6675120" cy="1389888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4663440"/>
            <a:ext cx="59436" cy="1170432"/>
          </a:xfrm>
          <a:prstGeom prst="roundRect">
            <a:avLst>
              <a:gd name="adj" fmla="val 50000"/>
            </a:avLst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672584"/>
            <a:ext cx="63825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B4F"/>
                </a:solidFill>
                <a:latin typeface="微软雅黑"/>
                <a:ea typeface="微软雅黑"/>
              </a:rPr>
              <a:t>旋开瓶盖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5029200"/>
            <a:ext cx="63093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规划 </a:t>
            </a:r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J6 旋转 4 圈</a:t>
            </a:r>
            <a:r>
              <a:rPr sz="1150" b="0" i="0">
                <a:solidFill>
                  <a:srgbClr val="262626"/>
                </a:solidFill>
                <a:latin typeface="微软雅黑"/>
                <a:ea typeface="微软雅黑"/>
              </a:rPr>
              <a:t>（每圈 180°）；每圈后松爪 → 手腕反向复位 → 重新夹紧，防止回程把盖拧紧；旋开后夹持抬升 5cm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4663440"/>
            <a:ext cx="1051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2E75B6"/>
                </a:solidFill>
                <a:latin typeface="微软雅黑"/>
                <a:ea typeface="微软雅黑"/>
              </a:rPr>
              <a:t>步骤六</a:t>
            </a:r>
          </a:p>
        </p:txBody>
      </p:sp>
      <p:pic>
        <p:nvPicPr>
          <p:cNvPr id="25" name="Picture 24" descr="t2_s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3989" y="4553712"/>
            <a:ext cx="2457260" cy="1389888"/>
          </a:xfrm>
          <a:prstGeom prst="rect">
            <a:avLst/>
          </a:prstGeom>
          <a:ln w="12700">
            <a:solidFill>
              <a:srgbClr val="C9D8EA"/>
            </a:solidFill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03 全流程走读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旋盖策略：为什么要分四圈、每圈重新夹紧？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任务二 · 开瓶盖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11201400" cy="77724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00784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142B4F"/>
                </a:solidFill>
                <a:latin typeface="微软雅黑"/>
                <a:ea typeface="微软雅黑"/>
              </a:rPr>
              <a:t>J6 是有界回转关节：连续旋转 4 圈超出单行程范围 → 必须分段旋转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97480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夹紧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09928" y="2697480"/>
            <a:ext cx="1737360" cy="566928"/>
          </a:xfrm>
          <a:prstGeom prst="roundRect">
            <a:avLst>
              <a:gd name="adj" fmla="val 12000"/>
            </a:avLst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J6 旋转 180°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48456" y="2697480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2F8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松爪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72584" y="2697480"/>
            <a:ext cx="1737360" cy="566928"/>
          </a:xfrm>
          <a:prstGeom prst="roundRect">
            <a:avLst>
              <a:gd name="adj" fmla="val 12000"/>
            </a:avLst>
          </a:prstGeom>
          <a:solidFill>
            <a:srgbClr val="8A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手腕复位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11112" y="2697480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</a:rPr>
              <a:t>重新夹紧</a:t>
            </a:r>
          </a:p>
        </p:txBody>
      </p:sp>
      <p:sp>
        <p:nvSpPr>
          <p:cNvPr id="15" name="Circular Arrow 14"/>
          <p:cNvSpPr/>
          <p:nvPr/>
        </p:nvSpPr>
        <p:spPr>
          <a:xfrm>
            <a:off x="7726680" y="2651760"/>
            <a:ext cx="658368" cy="658368"/>
          </a:xfrm>
          <a:prstGeom prst="circular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335584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2B4F"/>
                </a:solidFill>
                <a:latin typeface="微软雅黑"/>
                <a:ea typeface="微软雅黑"/>
              </a:rPr>
              <a:t>× 4 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657600"/>
            <a:ext cx="11201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为什么要松开再夹紧？</a:t>
            </a: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 回程（反向复位）时若保持夹持，会把已旋松的盖子重新拧紧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方向</a:t>
            </a: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：从瓶盖上方俯视，沿夹爪朝下轴线，负 J2_6 = 逆时针（实机验证）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旋不开时排查：调大 torque_limit；瓶盖别拧太紧；检查夹爪摩擦材料是否脱落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04 调试与排查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常见问题与排查方法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任务二 · 开瓶盖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11201399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7183"/>
                <a:gridCol w="8814216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现象</a:t>
                      </a:r>
                    </a:p>
                  </a:txBody>
                  <a:tcPr marL="64008" marR="64008" marT="27432" marB="27432" anchor="ctr"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排查方向</a:t>
                      </a:r>
                    </a:p>
                  </a:txBody>
                  <a:tcPr marL="64008" marR="64008" marT="27432" marB="27432" anchor="ctr">
                    <a:solidFill>
                      <a:srgbClr val="142B4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定位不准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重新相机标定，或直接修改 offset 补偿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无法识别目标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光照充足；更换 GroundingDINO 提示词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夹爪旋不开瓶盖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调大夹爪力（torque_limit）；瓶盖别太紧；检查夹爪材料脱落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相机掉线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不经过拓展坞；不同 USB 根集线器；集线器 ≥ 10Gbps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左臂持瓶时规划失败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瓶子稍微往右放一点（避开左臂自碰约束）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617720"/>
            <a:ext cx="6949440" cy="1508760"/>
          </a:xfrm>
          <a:prstGeom prst="roundRect">
            <a:avLst>
              <a:gd name="adj" fmla="val 6000"/>
            </a:avLst>
          </a:prstGeom>
          <a:solidFill>
            <a:srgbClr val="2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4727448"/>
            <a:ext cx="6620255" cy="13075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150" b="0" i="0">
                <a:solidFill>
                  <a:srgbClr val="8A93A3"/>
                </a:solidFill>
                <a:latin typeface="Consolas"/>
                <a:ea typeface="Consolas"/>
              </a:rPr>
              <a:t># 任务失败后的复原三步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8CD9A3"/>
                </a:solidFill>
                <a:latin typeface="Consolas"/>
                <a:ea typeface="Consolas"/>
              </a:rPr>
              <a:t>$ ros2 launch xtrainer_gripper gripper_open.launch.py</a:t>
            </a:r>
          </a:p>
          <a:p>
            <a:pPr>
              <a:lnSpc>
                <a:spcPct val="112000"/>
              </a:lnSpc>
            </a:pPr>
            <a:r>
              <a:rPr sz="1150" b="0" i="0">
                <a:solidFill>
                  <a:srgbClr val="8CD9A3"/>
                </a:solidFill>
                <a:latin typeface="Consolas"/>
                <a:ea typeface="Consolas"/>
              </a:rPr>
              <a:t>$ ros2 launch xtrainer_task goto_pose.launch.py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4617720"/>
            <a:ext cx="4023360" cy="150876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80960" y="4727448"/>
            <a:ext cx="59436" cy="1289304"/>
          </a:xfrm>
          <a:prstGeom prst="roundRect">
            <a:avLst>
              <a:gd name="adj" fmla="val 50000"/>
            </a:avLst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4736592"/>
            <a:ext cx="37307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课堂提问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5093208"/>
            <a:ext cx="3657600" cy="9418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为什么顶相机定位瓶身后还要向下偏移 5cm？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49640" y="45720"/>
            <a:ext cx="3108960" cy="3108960"/>
          </a:xfrm>
          <a:prstGeom prst="ellipse">
            <a:avLst/>
          </a:prstGeom>
          <a:noFill/>
          <a:ln w="19050">
            <a:solidFill>
              <a:srgbClr val="1B3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457200"/>
            <a:ext cx="2286000" cy="2286000"/>
          </a:xfrm>
          <a:prstGeom prst="ellipse">
            <a:avLst/>
          </a:prstGeom>
          <a:noFill/>
          <a:ln w="19050">
            <a:solidFill>
              <a:srgbClr val="2240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72600" y="868680"/>
            <a:ext cx="1463040" cy="1463040"/>
          </a:xfrm>
          <a:prstGeom prst="ellipse">
            <a:avLst/>
          </a:prstGeom>
          <a:noFill/>
          <a:ln w="19050">
            <a:solidFill>
              <a:srgbClr val="2A4C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71632" y="1536192"/>
            <a:ext cx="128016" cy="128016"/>
          </a:xfrm>
          <a:prstGeom prst="ellipse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" y="868680"/>
            <a:ext cx="73152" cy="73152"/>
          </a:xfrm>
          <a:prstGeom prst="ellipse">
            <a:avLst/>
          </a:prstGeom>
          <a:solidFill>
            <a:srgbClr val="3A5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20240" y="1371600"/>
            <a:ext cx="45720" cy="45720"/>
          </a:xfrm>
          <a:prstGeom prst="ellipse">
            <a:avLst/>
          </a:prstGeom>
          <a:solidFill>
            <a:srgbClr val="2A4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2103120"/>
            <a:ext cx="1219169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微软雅黑"/>
                <a:ea typeface="微软雅黑"/>
              </a:rPr>
              <a:t>谢谢观看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92927" y="3456432"/>
            <a:ext cx="1005840" cy="50292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3730752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BDD3EE"/>
                </a:solidFill>
                <a:latin typeface="微软雅黑"/>
                <a:ea typeface="微软雅黑"/>
              </a:rPr>
              <a:t>Xtrainer 双臂机器人实训 · 任务二 开瓶盖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199632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FA8C8"/>
                </a:solidFill>
                <a:latin typeface="微软雅黑"/>
                <a:ea typeface="微软雅黑"/>
              </a:rPr>
              <a:t>深圳市越疆科技股份有限公司 · 实训教学课件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