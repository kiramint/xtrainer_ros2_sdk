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269480" y="1051560"/>
            <a:ext cx="4754880" cy="4754880"/>
          </a:xfrm>
          <a:prstGeom prst="ellipse">
            <a:avLst/>
          </a:prstGeom>
          <a:noFill/>
          <a:ln w="19050">
            <a:solidFill>
              <a:srgbClr val="1B3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818120" y="1600200"/>
            <a:ext cx="3657600" cy="3657600"/>
          </a:xfrm>
          <a:prstGeom prst="ellipse">
            <a:avLst/>
          </a:prstGeom>
          <a:noFill/>
          <a:ln w="19050">
            <a:solidFill>
              <a:srgbClr val="224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366760" y="2148840"/>
            <a:ext cx="2560320" cy="2560320"/>
          </a:xfrm>
          <a:prstGeom prst="ellipse">
            <a:avLst/>
          </a:prstGeom>
          <a:noFill/>
          <a:ln w="19050">
            <a:solidFill>
              <a:srgbClr val="2A4C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853928" y="3355848"/>
            <a:ext cx="146304" cy="146304"/>
          </a:xfrm>
          <a:prstGeom prst="ellipse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26680" y="5029200"/>
            <a:ext cx="91440" cy="91440"/>
          </a:xfrm>
          <a:prstGeom prst="ellipse">
            <a:avLst/>
          </a:prstGeom>
          <a:solidFill>
            <a:srgbClr val="3A5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515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2C14E"/>
                </a:solidFill>
                <a:latin typeface="微软雅黑"/>
                <a:ea typeface="微软雅黑"/>
              </a:rPr>
              <a:t>Xtrainer 双臂机器人实训 · 精密插入操作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00200"/>
            <a:ext cx="5486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任务三  插吸管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3310128"/>
            <a:ext cx="1005840" cy="50292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118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BDD3EE"/>
                </a:solidFill>
                <a:latin typeface="微软雅黑"/>
                <a:ea typeface="微软雅黑"/>
              </a:rPr>
              <a:t>细长物体方向估计 × 动态目标持续跟踪 × 安全插入深度控制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4340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PCA 主轴分析：从 SAM2 掩码求吸管 3D 方向与长度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Hough 圆检测 + 15 帧滑动缓冲 + MAD 剔除离群点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插入深度 = min(期望值, 吸管半长 − 5cm) 安全钳制</a:t>
            </a:r>
          </a:p>
          <a:p>
            <a:pPr>
              <a:spcAft>
                <a:spcPts val="700"/>
              </a:spcAft>
            </a:pPr>
            <a:r>
              <a:rPr sz="1350" b="1" i="0">
                <a:solidFill>
                  <a:srgbClr val="F2C14E"/>
                </a:solidFill>
                <a:latin typeface="微软雅黑"/>
                <a:ea typeface="微软雅黑"/>
              </a:rPr>
              <a:t>▸ </a:t>
            </a:r>
            <a:r>
              <a:rPr sz="1350" b="0" i="0">
                <a:solidFill>
                  <a:srgbClr val="D5E2F2"/>
                </a:solidFill>
                <a:latin typeface="微软雅黑"/>
                <a:ea typeface="微软雅黑"/>
              </a:rPr>
              <a:t>抓取后先垂直抬升再水平移动的安全策略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17220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FA8C8"/>
                </a:solidFill>
                <a:latin typeface="微软雅黑"/>
                <a:ea typeface="微软雅黑"/>
              </a:rPr>
              <a:t>深圳市越疆科技股份有限公司 · 实训教学课件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本讲内容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任务三 · 插吸管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9280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任务概览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98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与任务二的差异 · 新挑战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9280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PCA 主轴分析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898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细长物体的 3D 方向估计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7304" y="169164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89280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4688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垂直抓取策略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89864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夹爪开合 ⊥ 吸管 · 抬升让位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947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9592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瓶盖持续跟踪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017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Hough 圆 · 滑动缓冲 · MAD 收敛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5112" y="37947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3712" y="399592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572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安全插入深度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50017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几何计算 · 钳制与告警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47304" y="3794760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5904" y="3995928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8CCE4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75904" y="4572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 i="0">
                <a:solidFill>
                  <a:srgbClr val="142B4F"/>
                </a:solidFill>
                <a:latin typeface="微软雅黑"/>
                <a:ea typeface="微软雅黑"/>
              </a:rPr>
              <a:t>调试与排查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500176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  <a:latin typeface="微软雅黑"/>
                <a:ea typeface="微软雅黑"/>
              </a:rPr>
              <a:t>参数调整 · 异常现象分析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01 任务概览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插吸管：从“直立瓶身”到“细长吸管”的新挑战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任务三 · 插吸管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8" name="Pentagon 7"/>
          <p:cNvSpPr/>
          <p:nvPr/>
        </p:nvSpPr>
        <p:spPr>
          <a:xfrm>
            <a:off x="502920" y="1481328"/>
            <a:ext cx="1805939" cy="731520"/>
          </a:xfrm>
          <a:prstGeom prst="homePlat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检测吸管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18973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顶相机+PCA</a:t>
            </a:r>
          </a:p>
        </p:txBody>
      </p:sp>
      <p:sp>
        <p:nvSpPr>
          <p:cNvPr id="10" name="Chevron 9"/>
          <p:cNvSpPr/>
          <p:nvPr/>
        </p:nvSpPr>
        <p:spPr>
          <a:xfrm>
            <a:off x="2382011" y="1481328"/>
            <a:ext cx="1805939" cy="7315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抓取吸管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6291" y="2267712"/>
            <a:ext cx="18973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左相机 侧夹</a:t>
            </a:r>
          </a:p>
        </p:txBody>
      </p:sp>
      <p:sp>
        <p:nvSpPr>
          <p:cNvPr id="12" name="Chevron 11"/>
          <p:cNvSpPr/>
          <p:nvPr/>
        </p:nvSpPr>
        <p:spPr>
          <a:xfrm>
            <a:off x="4261103" y="1481328"/>
            <a:ext cx="1805939" cy="7315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抬升至等待位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3" y="2267712"/>
            <a:ext cx="18973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垂直+20cm</a:t>
            </a:r>
          </a:p>
        </p:txBody>
      </p:sp>
      <p:sp>
        <p:nvSpPr>
          <p:cNvPr id="14" name="Chevron 13"/>
          <p:cNvSpPr/>
          <p:nvPr/>
        </p:nvSpPr>
        <p:spPr>
          <a:xfrm>
            <a:off x="6140195" y="1481328"/>
            <a:ext cx="1805939" cy="7315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定位瓶盖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5" y="2267712"/>
            <a:ext cx="18973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后台线程跟踪</a:t>
            </a:r>
          </a:p>
        </p:txBody>
      </p:sp>
      <p:sp>
        <p:nvSpPr>
          <p:cNvPr id="16" name="Chevron 15"/>
          <p:cNvSpPr/>
          <p:nvPr/>
        </p:nvSpPr>
        <p:spPr>
          <a:xfrm>
            <a:off x="8019288" y="1481328"/>
            <a:ext cx="1805939" cy="7315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直线插入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7" y="2267712"/>
            <a:ext cx="18973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Pilz LIN</a:t>
            </a:r>
          </a:p>
        </p:txBody>
      </p:sp>
      <p:sp>
        <p:nvSpPr>
          <p:cNvPr id="18" name="Chevron 17"/>
          <p:cNvSpPr/>
          <p:nvPr/>
        </p:nvSpPr>
        <p:spPr>
          <a:xfrm>
            <a:off x="9898380" y="1481328"/>
            <a:ext cx="1805939" cy="73152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</a:rPr>
              <a:t>松爪释放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2659" y="2267712"/>
            <a:ext cx="18973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95959"/>
                </a:solidFill>
                <a:latin typeface="微软雅黑"/>
                <a:ea typeface="微软雅黑"/>
              </a:rPr>
              <a:t>Arm1 回 Home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274320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852928"/>
            <a:ext cx="59436" cy="142646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862072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挑战①：吸管细长，方向未知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218688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边界框中心只能给“位置”，不能给“朝向”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必须先求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主轴方向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，夹爪开合方向与吸管垂直，才能从侧面可靠夹持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74320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17920" y="2852928"/>
            <a:ext cx="59436" cy="1426464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862072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挑战②：瓶盖圆心小、可能被遮挡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3218688"/>
            <a:ext cx="51206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单帧 Hough 圆检测不稳定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采用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后台检测线程 + 滑动缓冲 + MAD 剔除离群点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，收敛后再插入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617720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D9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773168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2B4F"/>
                </a:solidFill>
                <a:latin typeface="微软雅黑"/>
                <a:ea typeface="微软雅黑"/>
              </a:rPr>
              <a:t>本任务在视觉抓取流程基础上的两个新方法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02352"/>
            <a:ext cx="10698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细长物体方向估计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：PCA 主轴分析（步骤一、二）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动态目标持续跟踪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：Hough 圆 + CapCenterTracker 收敛判定（步骤四）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02 PCA 主轴分析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PCA 主轴：细长物体的“骨架”怎么求？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任务三 · 插吸管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760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对 </a:t>
            </a: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SAM2 掩码内所有像素坐标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 (u,v) 做主成分分析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第一主成分 = 数据方差最大的方向 = </a:t>
            </a: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吸管长轴方向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掩码像素沿主轴投影的极值点 = </a:t>
            </a: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吸管两端点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两端点分别经</a:t>
            </a: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深度 + TF 变换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到 </a:t>
            </a:r>
            <a:r>
              <a:rPr sz="1250" b="0" i="0">
                <a:solidFill>
                  <a:srgbClr val="9A6B2F"/>
                </a:solidFill>
                <a:latin typeface="Consolas"/>
                <a:ea typeface="Consolas"/>
              </a:rPr>
              <a:t>base_link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，得到：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2E75B6"/>
                </a:solidFill>
                <a:latin typeface="微软雅黑"/>
                <a:ea typeface="微软雅黑"/>
              </a:rPr>
              <a:t>• 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中心（抓取点）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50" b="0" i="0">
                <a:solidFill>
                  <a:srgbClr val="2E75B6"/>
                </a:solidFill>
                <a:latin typeface="微软雅黑"/>
                <a:ea typeface="微软雅黑"/>
              </a:rPr>
              <a:t>• 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真实 3D 方向（决定夹爪 yaw）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E75B6"/>
                </a:solidFill>
                <a:latin typeface="微软雅黑"/>
                <a:ea typeface="微软雅黑"/>
              </a:rPr>
              <a:t>• 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整根长度（供插入深度计算）</a:t>
            </a:r>
          </a:p>
        </p:txBody>
      </p:sp>
      <p:pic>
        <p:nvPicPr>
          <p:cNvPr id="9" name="Picture 8" descr="t3_s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592556"/>
            <a:ext cx="5257800" cy="3197399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10" name="Rectangle 9"/>
          <p:cNvSpPr/>
          <p:nvPr/>
        </p:nvSpPr>
        <p:spPr>
          <a:xfrm>
            <a:off x="6446520" y="4873752"/>
            <a:ext cx="525780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4914900"/>
            <a:ext cx="51114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顶相机检测吸管（straw）：掩码 + 主轴两端点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5349240"/>
            <a:ext cx="5257800" cy="685800"/>
          </a:xfrm>
          <a:prstGeom prst="roundRect">
            <a:avLst>
              <a:gd name="adj" fmla="val 10000"/>
            </a:avLst>
          </a:prstGeom>
          <a:solidFill>
            <a:srgbClr val="D9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5486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42B4F"/>
                </a:solidFill>
                <a:latin typeface="微软雅黑"/>
                <a:ea typeface="微软雅黑"/>
              </a:rPr>
              <a:t>为什么不用边界框？框只有位置和尺寸，
PCA 才能给出“方向”，且对弯曲/斜放更稳健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02 PCA 主轴分析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两次测量、交叉验证：顶相机 + 左手相机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任务三 · 插吸管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201398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6024"/>
                <a:gridCol w="4917687"/>
                <a:gridCol w="4917687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顶相机（步骤一）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左手相机（步骤二）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提示词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i="0">
                          <a:solidFill>
                            <a:srgbClr val="9A6B2F"/>
                          </a:solidFill>
                          <a:latin typeface="Consolas"/>
                          <a:ea typeface="Consolas"/>
                        </a:rPr>
                        <a:t>straw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0" i="0">
                          <a:solidFill>
                            <a:srgbClr val="9A6B2F"/>
                          </a:solidFill>
                          <a:latin typeface="Consolas"/>
                          <a:ea typeface="Consolas"/>
                        </a:rPr>
                        <a:t>white pipe</a:t>
                      </a:r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（近距特写最佳）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作用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无遮挡测</a:t>
                      </a:r>
                      <a:r>
                        <a:rPr sz="1250" b="1" i="0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整根长度</a:t>
                      </a:r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+ 方向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近距精测抓取段</a:t>
                      </a:r>
                      <a:r>
                        <a:rPr sz="1250" b="1" i="0">
                          <a:solidFill>
                            <a:srgbClr val="2E75B6"/>
                          </a:solidFill>
                          <a:latin typeface="微软雅黑"/>
                          <a:ea typeface="微软雅黑"/>
                        </a:rPr>
                        <a:t>方向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输出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中心 / 3D 方向 / 长度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中心 / 3D 方向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365760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D9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22191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交叉校验：两次测量的吸管长度偏差 &gt; 2cm 时打印警告（以顶相机测量为准）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46320"/>
            <a:ext cx="11201400" cy="123444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4956048"/>
            <a:ext cx="59436" cy="1014984"/>
          </a:xfrm>
          <a:prstGeom prst="roundRect">
            <a:avLst>
              <a:gd name="adj" fmla="val 50000"/>
            </a:avLst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965192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工程细节：为什么顶相机量长度更准？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321808"/>
            <a:ext cx="10835640" cy="667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顶相机俯视无遮挡，能看到吸管全貌；手相机近距特写只看到局部 —— 分工测量、互相验证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03 垂直抓取策略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侧夹 ⊥ 吸管 + 抓后先垂直抬升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任务三 · 插吸管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18488"/>
            <a:ext cx="59436" cy="2066543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27631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夹持姿态：垂直侧夹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84248"/>
            <a:ext cx="5120640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夹爪开合方向 = 吸管方向 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±90°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（yaw 垂直）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Pilz PTP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 移动到吸管中心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以 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0.35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 速度闭合夹爪（低速防弹飞）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read_status()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 确认夹持成功</a:t>
            </a:r>
          </a:p>
        </p:txBody>
      </p:sp>
      <p:pic>
        <p:nvPicPr>
          <p:cNvPr id="12" name="Picture 11" descr="t3_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348" y="1508760"/>
            <a:ext cx="2693543" cy="2542032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6217920" y="4050791"/>
            <a:ext cx="548640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4091939"/>
            <a:ext cx="5340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左相机近距检测 white pipe，侧夹吸管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77639"/>
            <a:ext cx="5486400" cy="210312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4087368"/>
            <a:ext cx="59436" cy="1883663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096511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抬升至等待位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4453127"/>
            <a:ext cx="5120640" cy="1536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保持姿态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垂直抬升 20cm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（Pilz PTP）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为什么？吸管伸出夹爪很长，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水平移动会扫到桌面物体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先垂直脱离障碍高度，再平移 —— 安全冗余设计</a:t>
            </a:r>
          </a:p>
        </p:txBody>
      </p:sp>
      <p:pic>
        <p:nvPicPr>
          <p:cNvPr id="19" name="Picture 18" descr="t3_s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1336" y="4526280"/>
            <a:ext cx="1199567" cy="1261872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20" name="Rectangle 19"/>
          <p:cNvSpPr/>
          <p:nvPr/>
        </p:nvSpPr>
        <p:spPr>
          <a:xfrm>
            <a:off x="6217920" y="5788152"/>
            <a:ext cx="548640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5829300"/>
            <a:ext cx="53400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垂直抬升至等待位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04 瓶盖持续跟踪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瓶盖定位：为什么不能只看一帧？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任务三 · 插吸管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57607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瓶盖圆小，Hough 单帧检测</a:t>
            </a: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抖动大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吸管 / 手臂可能</a:t>
            </a: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遮挡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圆心，个别帧误检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插入是“一次定成败”的动作，目标位置必须</a:t>
            </a:r>
            <a:r>
              <a:rPr sz="1350" b="1" i="0">
                <a:solidFill>
                  <a:srgbClr val="2E75B6"/>
                </a:solidFill>
                <a:latin typeface="微软雅黑"/>
                <a:ea typeface="微软雅黑"/>
              </a:rPr>
              <a:t>可靠收敛</a:t>
            </a:r>
            <a:r>
              <a:rPr sz="1350" b="0" i="0">
                <a:solidFill>
                  <a:srgbClr val="262626"/>
                </a:solidFill>
                <a:latin typeface="微软雅黑"/>
                <a:ea typeface="微软雅黑"/>
              </a:rPr>
              <a:t>后再执行</a:t>
            </a:r>
          </a:p>
        </p:txBody>
      </p:sp>
      <p:pic>
        <p:nvPicPr>
          <p:cNvPr id="9" name="Picture 8" descr="t3_s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047" y="1554480"/>
            <a:ext cx="4640744" cy="2816352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10" name="Rectangle 9"/>
          <p:cNvSpPr/>
          <p:nvPr/>
        </p:nvSpPr>
        <p:spPr>
          <a:xfrm>
            <a:off x="6446520" y="4370831"/>
            <a:ext cx="525780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4411979"/>
            <a:ext cx="511149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顶相机：bottle 框内 Hough 圆检测瓶盖圆心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846320"/>
            <a:ext cx="11201400" cy="1234440"/>
          </a:xfrm>
          <a:prstGeom prst="roundRect">
            <a:avLst>
              <a:gd name="adj" fmla="val 8000"/>
            </a:avLst>
          </a:prstGeom>
          <a:solidFill>
            <a:srgbClr val="D9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983480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2B4F"/>
                </a:solidFill>
                <a:latin typeface="微软雅黑"/>
                <a:ea typeface="微软雅黑"/>
              </a:rPr>
              <a:t>程序结构：检测与执行解耦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303520"/>
            <a:ext cx="10698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后台检测线程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自节点启动起持续运行；主流程只消费“新鲜”（缓存 2s 内）且收敛的结果，总超时 30s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04 瓶盖持续跟踪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CapCenterTracker：15 帧缓冲 + MAD 收敛判定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任务三 · 插吸管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顶相机检测 `bottle`
得到边界框 ROI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17520" y="1920240"/>
            <a:ext cx="274320" cy="32004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155448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642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ROI 内 **Hough 圆变换**
检测瓶盖圆心 (u,v)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52159" y="1920240"/>
            <a:ext cx="274320" cy="320040"/>
          </a:xfrm>
          <a:prstGeom prst="rightArrow">
            <a:avLst/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72200" y="1554480"/>
            <a:ext cx="2468880" cy="1051560"/>
          </a:xfrm>
          <a:prstGeom prst="roundRect">
            <a:avLst>
              <a:gd name="adj" fmla="val 8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64208"/>
            <a:ext cx="2286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**15 帧滑动缓冲**
保留最近 15 次圆心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86800" y="1920240"/>
            <a:ext cx="274320" cy="320040"/>
          </a:xfrm>
          <a:prstGeom prst="rightArrow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06840" y="1554480"/>
            <a:ext cx="2697480" cy="1051560"/>
          </a:xfrm>
          <a:prstGeom prst="roundRect">
            <a:avLst>
              <a:gd name="adj" fmla="val 8000"/>
            </a:avLst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1664208"/>
            <a:ext cx="2514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</a:rPr>
              <a:t>**MAD 剔除离群点**
标准差 &lt; 2px → 收敛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880360"/>
            <a:ext cx="5486400" cy="169164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2990088"/>
            <a:ext cx="59436" cy="1472184"/>
          </a:xfrm>
          <a:prstGeom prst="roundRect">
            <a:avLst>
              <a:gd name="adj" fmla="val 50000"/>
            </a:avLst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999232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MAD：中位数绝对偏差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3355848"/>
            <a:ext cx="5120640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median(|xi − median(x)|)——比标准差更抗离群点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个别帧圆心飞了（遮挡/误检）不会污染收敛判定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880360"/>
            <a:ext cx="5486400" cy="169164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2990088"/>
            <a:ext cx="59436" cy="1472184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999232"/>
            <a:ext cx="5193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自适应降级（防死等）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355848"/>
            <a:ext cx="5120640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每 </a:t>
            </a: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</a:rPr>
              <a:t>5s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 未收敛自动放宽阈值 </a:t>
            </a: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</a:rPr>
              <a:t>1.5 倍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（最多 3 轮）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全部超时则输出</a:t>
            </a: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</a:rPr>
              <a:t>低置信度最佳估计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，任务继续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54880"/>
            <a:ext cx="11201400" cy="1325880"/>
          </a:xfrm>
          <a:prstGeom prst="roundRect">
            <a:avLst>
              <a:gd name="adj" fmla="val 8000"/>
            </a:avLst>
          </a:prstGeom>
          <a:solidFill>
            <a:srgbClr val="D9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19472"/>
            <a:ext cx="10698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2B4F"/>
                </a:solidFill>
                <a:latin typeface="微软雅黑"/>
                <a:ea typeface="微软雅黑"/>
              </a:rPr>
              <a:t>收敛后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30368"/>
            <a:ext cx="106984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圆心像素 → 深度 + TF → </a:t>
            </a:r>
            <a:r>
              <a:rPr sz="1150" b="0" i="0">
                <a:solidFill>
                  <a:srgbClr val="9A6B2F"/>
                </a:solidFill>
                <a:latin typeface="Consolas"/>
                <a:ea typeface="Consolas"/>
              </a:rPr>
              <a:t>base_link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；Arm1 以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固定倾斜姿态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移到瓶盖上方 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30cm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（OMPL）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05 安全插入深度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插入深度的几何计算与安全钳制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任务三 · 插吸管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766560" cy="1371600"/>
          </a:xfrm>
          <a:prstGeom prst="roundRect">
            <a:avLst>
              <a:gd name="adj" fmla="val 7000"/>
            </a:avLst>
          </a:prstGeom>
          <a:solidFill>
            <a:srgbClr val="D9E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7"/>
            <a:ext cx="6309360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42B4F"/>
                </a:solidFill>
                <a:latin typeface="Consolas"/>
                <a:ea typeface="Consolas"/>
              </a:rPr>
              <a:t>插入深度 = min( insertion_depth_m , 吸管半长 − 5cm )</a:t>
            </a:r>
          </a:p>
          <a:p>
            <a:pPr algn="ctr">
              <a:spcAft>
                <a:spcPts val="400"/>
              </a:spcAft>
            </a:pPr>
            <a:r>
              <a:rPr sz="1350" b="0" i="0">
                <a:solidFill>
                  <a:srgbClr val="142B4F"/>
                </a:solidFill>
                <a:latin typeface="微软雅黑"/>
                <a:ea typeface="微软雅黑"/>
              </a:rPr>
              <a:t>安全上限 = 吸管半长 − 5cm（夹爪 TCP 至少高出杯盖 5cm）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08960"/>
            <a:ext cx="6766560" cy="13716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3218688"/>
            <a:ext cx="59436" cy="1152144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27832"/>
            <a:ext cx="64739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为什么是“半长”？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584448"/>
            <a:ext cx="640080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抓取时夹持在吸管</a:t>
            </a:r>
            <a:r>
              <a:rPr sz="1250" b="1" i="0">
                <a:solidFill>
                  <a:srgbClr val="2E75B6"/>
                </a:solidFill>
                <a:latin typeface="微软雅黑"/>
                <a:ea typeface="微软雅黑"/>
              </a:rPr>
              <a:t>中心</a:t>
            </a: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 → 可插入端只有半根吸管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17720"/>
            <a:ext cx="6766560" cy="146304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727448"/>
            <a:ext cx="59436" cy="1243584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736592"/>
            <a:ext cx="64739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为什么留 5cm？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093208"/>
            <a:ext cx="64008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夹爪 TCP 必须至少高出杯盖 5cm，防止夹爪撞上杯口 / 杯盖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554480"/>
            <a:ext cx="4251960" cy="292608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52360" y="1664207"/>
            <a:ext cx="59436" cy="2706624"/>
          </a:xfrm>
          <a:prstGeom prst="roundRect">
            <a:avLst>
              <a:gd name="adj" fmla="val 50000"/>
            </a:avLst>
          </a:prstGeom>
          <a:solidFill>
            <a:srgbClr val="2F8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35240" y="1673352"/>
            <a:ext cx="3959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参数调节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2029967"/>
            <a:ext cx="3886200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launch 参数：</a:t>
            </a:r>
            <a:r>
              <a:rPr sz="1100" b="0" i="0">
                <a:solidFill>
                  <a:srgbClr val="9A6B2F"/>
                </a:solidFill>
                <a:latin typeface="Consolas"/>
                <a:ea typeface="Consolas"/>
              </a:rPr>
              <a:t>insertion_depth_m</a:t>
            </a: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（默认 0.10m）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ros2 launch xtrainer_task start_insert_straw.launch.py </a:t>
            </a: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</a:rPr>
              <a:t>insertion_depth_m:=0.08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期望值超限 → 自动</a:t>
            </a:r>
            <a:r>
              <a:rPr sz="1200" b="1" i="0">
                <a:solidFill>
                  <a:srgbClr val="2E75B6"/>
                </a:solidFill>
                <a:latin typeface="微软雅黑"/>
                <a:ea typeface="微软雅黑"/>
              </a:rPr>
              <a:t>钳制到上限并打印警告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4617720"/>
            <a:ext cx="4251960" cy="146304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52360" y="4727448"/>
            <a:ext cx="59436" cy="1243584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4736592"/>
            <a:ext cx="395935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深度被钳制说明什么？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3528" y="5093208"/>
            <a:ext cx="3886200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262626"/>
                </a:solidFill>
                <a:latin typeface="微软雅黑"/>
                <a:ea typeface="微软雅黑"/>
              </a:rPr>
              <a:t>吸管长度测量异常 —— 通常是顶相机被遮挡，量短了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155448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05 安全插入深度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直线插入并松爪（步骤五）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任务三 · 插吸管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10</a:t>
            </a:r>
          </a:p>
        </p:txBody>
      </p:sp>
      <p:pic>
        <p:nvPicPr>
          <p:cNvPr id="8" name="Picture 7" descr="t3_s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42" y="1508760"/>
            <a:ext cx="5191074" cy="4279392"/>
          </a:xfrm>
          <a:prstGeom prst="rect">
            <a:avLst/>
          </a:prstGeom>
          <a:ln w="12700">
            <a:solidFill>
              <a:srgbClr val="C9D8EA"/>
            </a:solidFill>
          </a:ln>
          <a:effectLst/>
        </p:spPr>
      </p:pic>
      <p:sp>
        <p:nvSpPr>
          <p:cNvPr id="9" name="Rectangle 8"/>
          <p:cNvSpPr/>
          <p:nvPr/>
        </p:nvSpPr>
        <p:spPr>
          <a:xfrm>
            <a:off x="502920" y="5788152"/>
            <a:ext cx="5760720" cy="292608"/>
          </a:xfrm>
          <a:prstGeom prst="rect">
            <a:avLst/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5829300"/>
            <a:ext cx="56144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595959"/>
                </a:solidFill>
                <a:latin typeface="微软雅黑"/>
                <a:ea typeface="微软雅黑"/>
              </a:rPr>
              <a:t>Pilz LIN 直线下降插入，张开夹爪释放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600200"/>
            <a:ext cx="5166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先按几何关系算</a:t>
            </a: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插入目标高度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（深度取钳制后值）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Pilz LIN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 直线下降到目标高度（保证垂直、不扫杯口）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到位后</a:t>
            </a: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张开夹爪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释放吸管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Arm1 退回 </a:t>
            </a:r>
            <a:r>
              <a:rPr sz="1300" b="1" i="0">
                <a:solidFill>
                  <a:srgbClr val="2E75B6"/>
                </a:solidFill>
                <a:latin typeface="微软雅黑"/>
                <a:ea typeface="微软雅黑"/>
              </a:rPr>
              <a:t>Home</a:t>
            </a: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，任务完成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00" b="0" i="0">
                <a:solidFill>
                  <a:srgbClr val="262626"/>
                </a:solidFill>
                <a:latin typeface="微软雅黑"/>
                <a:ea typeface="微软雅黑"/>
              </a:rPr>
              <a:t>任务实施命令（任务实施节）：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300" b="0" i="0">
                <a:solidFill>
                  <a:srgbClr val="2E75B6"/>
                </a:solidFill>
                <a:latin typeface="微软雅黑"/>
                <a:ea typeface="微软雅黑"/>
              </a:rPr>
              <a:t>• </a:t>
            </a: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ros2 launch xtrainer_control start.launch.py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300" b="0" i="0">
                <a:solidFill>
                  <a:srgbClr val="2E75B6"/>
                </a:solidFill>
                <a:latin typeface="微软雅黑"/>
                <a:ea typeface="微软雅黑"/>
              </a:rPr>
              <a:t>• </a:t>
            </a:r>
            <a:r>
              <a:rPr sz="1200" b="0" i="0">
                <a:solidFill>
                  <a:srgbClr val="9A6B2F"/>
                </a:solidFill>
                <a:latin typeface="Consolas"/>
                <a:ea typeface="Consolas"/>
              </a:rPr>
              <a:t>ros2 launch xtrainer_task start_insert_straw.launch.py insertion_depth_m:=0.08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75B6"/>
                </a:solidFill>
                <a:latin typeface="微软雅黑"/>
                <a:ea typeface="微软雅黑"/>
              </a:rPr>
              <a:t>06 调试与排查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632" y="530352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142B4F"/>
                </a:solidFill>
                <a:latin typeface="微软雅黑"/>
                <a:ea typeface="微软雅黑"/>
              </a:rPr>
              <a:t>常见问题与排查方法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170432"/>
            <a:ext cx="868680" cy="45720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55664"/>
            <a:ext cx="11277295" cy="10972"/>
          </a:xfrm>
          <a:prstGeom prst="rect">
            <a:avLst/>
          </a:prstGeom>
          <a:solidFill>
            <a:srgbClr val="C9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Xtrainer 双臂机器人实训 · 任务三 · 插吸管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510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595959"/>
                </a:solidFill>
                <a:latin typeface="微软雅黑"/>
                <a:ea typeface="微软雅黑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554480"/>
          <a:ext cx="11201399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0813"/>
                <a:gridCol w="8630586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现象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排查方向</a:t>
                      </a:r>
                    </a:p>
                  </a:txBody>
                  <a:tcPr marL="64008" marR="64008" marT="27432" marB="27432" anchor="ctr">
                    <a:solidFill>
                      <a:srgbClr val="142B4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圆检测失败 / 误检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Hough 参数（minRadius / maxRadius / param2）按瓶盖尺寸与相机高度调整；瓶身图案可能被误检为圆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圆心长期不收敛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默认阈值 2px 较严格；等待自动降级（每 5s 放宽 1.5 倍）；改善光照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插入深度不符预期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检查 </a:t>
                      </a:r>
                      <a:r>
                        <a:rPr sz="1100" b="0" i="0">
                          <a:solidFill>
                            <a:srgbClr val="9A6B2F"/>
                          </a:solidFill>
                          <a:latin typeface="Consolas"/>
                          <a:ea typeface="Consolas"/>
                        </a:rPr>
                        <a:t>insertion_depth_m</a:t>
                      </a:r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；被钳制 = 吸管长度测量异常（顶相机被遮挡）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定位不准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重新进行相机标定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相机掉线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不经过拓展坞；不同 USB 根集线器；≥ 10Gbps</a:t>
                      </a:r>
                    </a:p>
                  </a:txBody>
                  <a:tcPr marL="64008" marR="64008" marT="18288" marB="18288" anchor="ctr"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709160"/>
            <a:ext cx="11201400" cy="1371600"/>
          </a:xfrm>
          <a:prstGeom prst="roundRect">
            <a:avLst>
              <a:gd name="adj" fmla="val 5000"/>
            </a:avLst>
          </a:prstGeom>
          <a:solidFill>
            <a:srgbClr val="F4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4818888"/>
            <a:ext cx="59436" cy="1152144"/>
          </a:xfrm>
          <a:prstGeom prst="roundRect">
            <a:avLst>
              <a:gd name="adj" fmla="val 50000"/>
            </a:avLst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28032"/>
            <a:ext cx="109087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42B4F"/>
                </a:solidFill>
                <a:latin typeface="微软雅黑"/>
                <a:ea typeface="微软雅黑"/>
              </a:rPr>
              <a:t>课堂提问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184648"/>
            <a:ext cx="1083564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50" b="0" i="0">
                <a:solidFill>
                  <a:srgbClr val="262626"/>
                </a:solidFill>
                <a:latin typeface="微软雅黑"/>
                <a:ea typeface="微软雅黑"/>
              </a:rPr>
              <a:t>为什么用 15 帧滑动缓冲 + MAD，而不是直接取最新一帧？插入深度为什么不能超过“吸管半长 − 5cm”？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49640" y="45720"/>
            <a:ext cx="3108960" cy="3108960"/>
          </a:xfrm>
          <a:prstGeom prst="ellipse">
            <a:avLst/>
          </a:prstGeom>
          <a:noFill/>
          <a:ln w="19050">
            <a:solidFill>
              <a:srgbClr val="1B35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457200"/>
            <a:ext cx="2286000" cy="2286000"/>
          </a:xfrm>
          <a:prstGeom prst="ellipse">
            <a:avLst/>
          </a:prstGeom>
          <a:noFill/>
          <a:ln w="19050">
            <a:solidFill>
              <a:srgbClr val="2240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600" y="868680"/>
            <a:ext cx="1463040" cy="1463040"/>
          </a:xfrm>
          <a:prstGeom prst="ellipse">
            <a:avLst/>
          </a:prstGeom>
          <a:noFill/>
          <a:ln w="19050">
            <a:solidFill>
              <a:srgbClr val="2A4C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771632" y="1536192"/>
            <a:ext cx="128016" cy="128016"/>
          </a:xfrm>
          <a:prstGeom prst="ellipse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868680"/>
            <a:ext cx="73152" cy="73152"/>
          </a:xfrm>
          <a:prstGeom prst="ellipse">
            <a:avLst/>
          </a:prstGeom>
          <a:solidFill>
            <a:srgbClr val="3A5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20240" y="1371600"/>
            <a:ext cx="45720" cy="45720"/>
          </a:xfrm>
          <a:prstGeom prst="ellipse">
            <a:avLst/>
          </a:prstGeom>
          <a:solidFill>
            <a:srgbClr val="2A4C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2103120"/>
            <a:ext cx="12191695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92927" y="3456432"/>
            <a:ext cx="1005840" cy="50292"/>
          </a:xfrm>
          <a:prstGeom prst="rect">
            <a:avLst/>
          </a:prstGeom>
          <a:solidFill>
            <a:srgbClr val="E37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3730752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0" i="0">
                <a:solidFill>
                  <a:srgbClr val="BDD3EE"/>
                </a:solidFill>
                <a:latin typeface="微软雅黑"/>
                <a:ea typeface="微软雅黑"/>
              </a:rPr>
              <a:t>Xtrainer 双臂机器人实训 · 任务三 插吸管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199632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8FA8C8"/>
                </a:solidFill>
                <a:latin typeface="微软雅黑"/>
                <a:ea typeface="微软雅黑"/>
              </a:rPr>
              <a:t>深圳市越疆科技股份有限公司 · 实训教学课件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